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88" r:id="rId4"/>
    <p:sldId id="278" r:id="rId5"/>
    <p:sldId id="287" r:id="rId6"/>
    <p:sldId id="279" r:id="rId7"/>
    <p:sldId id="280" r:id="rId8"/>
    <p:sldId id="281" r:id="rId9"/>
    <p:sldId id="282" r:id="rId10"/>
    <p:sldId id="283" r:id="rId11"/>
    <p:sldId id="284" r:id="rId12"/>
    <p:sldId id="285" r:id="rId13"/>
    <p:sldId id="286" r:id="rId14"/>
    <p:sldId id="272" r:id="rId15"/>
    <p:sldId id="273" r:id="rId16"/>
    <p:sldId id="276" r:id="rId17"/>
    <p:sldId id="289" r:id="rId18"/>
    <p:sldId id="290" r:id="rId19"/>
    <p:sldId id="274" r:id="rId20"/>
    <p:sldId id="275" r:id="rId21"/>
    <p:sldId id="29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4T09:52:56.336"/>
    </inkml:context>
    <inkml:brush xml:id="br0">
      <inkml:brushProperty name="width" value="0.035" units="cm"/>
      <inkml:brushProperty name="height" value="0.035" units="cm"/>
      <inkml:brushProperty name="color" value="#E71224"/>
    </inkml:brush>
  </inkml:definitions>
  <inkml:trace contextRef="#ctx0" brushRef="#br0">0 0 22858,'279'6364'0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4T09:55:08.411"/>
    </inkml:context>
    <inkml:brush xml:id="br0">
      <inkml:brushProperty name="width" value="0.035" units="cm"/>
      <inkml:brushProperty name="height" value="0.035" units="cm"/>
      <inkml:brushProperty name="color" value="#E71224"/>
    </inkml:brush>
  </inkml:definitions>
  <inkml:trace contextRef="#ctx0" brushRef="#br0">677 0 24090,'-677'1398'0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4T09:55:18.382"/>
    </inkml:context>
    <inkml:brush xml:id="br0">
      <inkml:brushProperty name="width" value="0.035" units="cm"/>
      <inkml:brushProperty name="height" value="0.035" units="cm"/>
      <inkml:brushProperty name="color" value="#E71224"/>
    </inkml:brush>
  </inkml:definitions>
  <inkml:trace contextRef="#ctx0" brushRef="#br0">0 0 24271,'275'974'0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CBDA0-8390-97FF-F8ED-67FB68FEA0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B62117-EC2F-2A1F-EA83-007B37C4B2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0A7EDF-7E37-37A1-FF8B-8BA74E41B419}"/>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5" name="Footer Placeholder 4">
            <a:extLst>
              <a:ext uri="{FF2B5EF4-FFF2-40B4-BE49-F238E27FC236}">
                <a16:creationId xmlns:a16="http://schemas.microsoft.com/office/drawing/2014/main" id="{94561761-D6DA-5D75-1E4C-81FDCB116D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E1C49-B963-D20E-BA5F-1FD9F3B18AC7}"/>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418878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3E98F-3E82-2759-ECE6-BC0261DFB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29E553-EA60-5E63-6C6B-0C79F0C93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7ABD54-59A7-EF9A-5075-C83F07431DFE}"/>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5" name="Footer Placeholder 4">
            <a:extLst>
              <a:ext uri="{FF2B5EF4-FFF2-40B4-BE49-F238E27FC236}">
                <a16:creationId xmlns:a16="http://schemas.microsoft.com/office/drawing/2014/main" id="{46B3E3D8-B099-7FDA-E532-45B0C2697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681AF-1E9C-0893-B9CA-DB7AE273B7A6}"/>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877805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55A1-DB46-0F5D-AEAA-6D6E715ABA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E4AE40-7C79-F99C-774B-B67CD52278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F2A56-35AA-8AEA-F390-7A608BEC83DA}"/>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5" name="Footer Placeholder 4">
            <a:extLst>
              <a:ext uri="{FF2B5EF4-FFF2-40B4-BE49-F238E27FC236}">
                <a16:creationId xmlns:a16="http://schemas.microsoft.com/office/drawing/2014/main" id="{1030B11B-3D60-78F7-E640-C161752716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129D2-15E7-7DAF-98C1-A02F44B038C1}"/>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2062718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7EA7-2D8C-789C-8416-298C2D26B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7B51C4-DBEC-055B-330C-F51F4F61C8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FCDBCB-6A39-4986-A0FC-E21DC560E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32A47A-4BFF-9FE2-6C2B-332CA675BD3D}"/>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6" name="Footer Placeholder 5">
            <a:extLst>
              <a:ext uri="{FF2B5EF4-FFF2-40B4-BE49-F238E27FC236}">
                <a16:creationId xmlns:a16="http://schemas.microsoft.com/office/drawing/2014/main" id="{EC3B6554-1D8B-1D68-43F6-328E11B69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2DDC8A-B756-BEE0-C5FD-0214750A25B3}"/>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1978611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6F13-2023-654A-8055-B8B8AE5109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7B0D75-86FB-69CD-DC14-4820D653EC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F42D5C-F0DF-A3B9-1C25-462EEE70F3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440D96-160D-0A94-631E-30236576D4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7D3D93-6903-F6B2-24C2-77E0C2BF17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8EB2D1-B4E0-C360-25FA-3F3A94CCA39C}"/>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8" name="Footer Placeholder 7">
            <a:extLst>
              <a:ext uri="{FF2B5EF4-FFF2-40B4-BE49-F238E27FC236}">
                <a16:creationId xmlns:a16="http://schemas.microsoft.com/office/drawing/2014/main" id="{D4F96F93-23C3-8CC3-8288-7AE53481DC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E092E0-4DF0-70DD-BE49-7F0B7175728C}"/>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969074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AB6AF-8B24-1268-F82C-04BB298FCA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94035D-BB6B-90EE-3DF7-750E3CDA93C8}"/>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4" name="Footer Placeholder 3">
            <a:extLst>
              <a:ext uri="{FF2B5EF4-FFF2-40B4-BE49-F238E27FC236}">
                <a16:creationId xmlns:a16="http://schemas.microsoft.com/office/drawing/2014/main" id="{AF20C1C5-51CB-4C68-9B59-36CD185EC9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E7FEA0-5CB3-90FE-9AF1-E51DE426F664}"/>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120908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270D5E-31BA-1BD3-7467-6D8785824BFC}"/>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3" name="Footer Placeholder 2">
            <a:extLst>
              <a:ext uri="{FF2B5EF4-FFF2-40B4-BE49-F238E27FC236}">
                <a16:creationId xmlns:a16="http://schemas.microsoft.com/office/drawing/2014/main" id="{75DB8995-EB39-8A9B-3BA0-33E5564CCE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982CEB-7900-9279-976B-A5B735D3BC77}"/>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167598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3D3F4-F71B-A8A1-3636-0ED2238703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5081B8-FA5D-A13F-7626-9A1207908A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507B07-6EC5-B00A-9C49-192B18039F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52E28D-1D86-ED0D-D6E2-4B4F44F7FBFD}"/>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6" name="Footer Placeholder 5">
            <a:extLst>
              <a:ext uri="{FF2B5EF4-FFF2-40B4-BE49-F238E27FC236}">
                <a16:creationId xmlns:a16="http://schemas.microsoft.com/office/drawing/2014/main" id="{471655A5-494B-69D0-30A6-C73E9F976A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5FE70-F8E9-BF4F-A8F0-2CCF1AECC9BC}"/>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2288062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AD2CB-28FE-4B67-0F0E-9BA5B19F1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37DA10-800C-1329-278B-03FAEB4262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5A52F8-E5B2-17B0-BCAE-783E95E16F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CB7C9-FC50-55C3-58E2-8D0C205121A9}"/>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6" name="Footer Placeholder 5">
            <a:extLst>
              <a:ext uri="{FF2B5EF4-FFF2-40B4-BE49-F238E27FC236}">
                <a16:creationId xmlns:a16="http://schemas.microsoft.com/office/drawing/2014/main" id="{1A285EAC-421B-6A33-AC2E-282A5996CE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468D64-E8A4-04CC-0662-6F3594E3672C}"/>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3500854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D0234-6B45-CBF1-F3D5-F0AB813CA2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4B31BF-0EA9-6E57-8B2D-38D37E5796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F5CA69-ECBE-29F6-0E68-8268F8065611}"/>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5" name="Footer Placeholder 4">
            <a:extLst>
              <a:ext uri="{FF2B5EF4-FFF2-40B4-BE49-F238E27FC236}">
                <a16:creationId xmlns:a16="http://schemas.microsoft.com/office/drawing/2014/main" id="{FA2019DF-0AEF-7365-82F7-939756AD0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C0F899-54E0-530C-D74A-2B06A6EE6220}"/>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1509456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6EF2C-EF98-6C7F-2D47-C37576683F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3CC38A-38D9-4262-C253-A238FDC6C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2D240F-689F-30DC-1266-EDCA0A6A6DCB}"/>
              </a:ext>
            </a:extLst>
          </p:cNvPr>
          <p:cNvSpPr>
            <a:spLocks noGrp="1"/>
          </p:cNvSpPr>
          <p:nvPr>
            <p:ph type="dt" sz="half" idx="10"/>
          </p:nvPr>
        </p:nvSpPr>
        <p:spPr/>
        <p:txBody>
          <a:bodyPr/>
          <a:lstStyle/>
          <a:p>
            <a:fld id="{17D4C3D9-9C47-4B00-97BF-367E9FA83B0D}" type="datetimeFigureOut">
              <a:rPr lang="en-US" smtClean="0"/>
              <a:t>4/4/2025</a:t>
            </a:fld>
            <a:endParaRPr lang="en-US"/>
          </a:p>
        </p:txBody>
      </p:sp>
      <p:sp>
        <p:nvSpPr>
          <p:cNvPr id="5" name="Footer Placeholder 4">
            <a:extLst>
              <a:ext uri="{FF2B5EF4-FFF2-40B4-BE49-F238E27FC236}">
                <a16:creationId xmlns:a16="http://schemas.microsoft.com/office/drawing/2014/main" id="{0A453BC6-A530-2C62-B816-EF040023E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46999-8F41-A4CA-C69A-0E882D4F7DA5}"/>
              </a:ext>
            </a:extLst>
          </p:cNvPr>
          <p:cNvSpPr>
            <a:spLocks noGrp="1"/>
          </p:cNvSpPr>
          <p:nvPr>
            <p:ph type="sldNum" sz="quarter" idx="12"/>
          </p:nvPr>
        </p:nvSpPr>
        <p:spPr/>
        <p:txBody>
          <a:bodyPr/>
          <a:lstStyle/>
          <a:p>
            <a:fld id="{1016C22A-19BC-4189-B778-1D3981E553D6}" type="slidenum">
              <a:rPr lang="en-US" smtClean="0"/>
              <a:t>‹#›</a:t>
            </a:fld>
            <a:endParaRPr lang="en-US"/>
          </a:p>
        </p:txBody>
      </p:sp>
    </p:spTree>
    <p:extLst>
      <p:ext uri="{BB962C8B-B14F-4D97-AF65-F5344CB8AC3E}">
        <p14:creationId xmlns:p14="http://schemas.microsoft.com/office/powerpoint/2010/main" val="976134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80E5E9-B0D1-A157-35DC-125111DFE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A036BC-9B9C-8314-B2A0-BA3EDEB8D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B57437-79F4-D39D-8EBB-55504A7D72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D4C3D9-9C47-4B00-97BF-367E9FA83B0D}" type="datetimeFigureOut">
              <a:rPr lang="en-US" smtClean="0"/>
              <a:t>4/4/2025</a:t>
            </a:fld>
            <a:endParaRPr lang="en-US"/>
          </a:p>
        </p:txBody>
      </p:sp>
      <p:sp>
        <p:nvSpPr>
          <p:cNvPr id="5" name="Footer Placeholder 4">
            <a:extLst>
              <a:ext uri="{FF2B5EF4-FFF2-40B4-BE49-F238E27FC236}">
                <a16:creationId xmlns:a16="http://schemas.microsoft.com/office/drawing/2014/main" id="{658062FE-1DD9-AF83-30DB-EAE54DDCDC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0B4384-C052-D289-92F0-E341FD76E9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16C22A-19BC-4189-B778-1D3981E553D6}" type="slidenum">
              <a:rPr lang="en-US" smtClean="0"/>
              <a:t>‹#›</a:t>
            </a:fld>
            <a:endParaRPr lang="en-US"/>
          </a:p>
        </p:txBody>
      </p:sp>
    </p:spTree>
    <p:extLst>
      <p:ext uri="{BB962C8B-B14F-4D97-AF65-F5344CB8AC3E}">
        <p14:creationId xmlns:p14="http://schemas.microsoft.com/office/powerpoint/2010/main" val="3860592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jpg"/><Relationship Id="rId7" Type="http://schemas.openxmlformats.org/officeDocument/2006/relationships/customXml" Target="../ink/ink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1.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Electronics protoboard">
            <a:extLst>
              <a:ext uri="{FF2B5EF4-FFF2-40B4-BE49-F238E27FC236}">
                <a16:creationId xmlns:a16="http://schemas.microsoft.com/office/drawing/2014/main" id="{B8660CB1-97BD-5F0D-556F-FD38A6B862A9}"/>
              </a:ext>
            </a:extLst>
          </p:cNvPr>
          <p:cNvPicPr>
            <a:picLocks noChangeAspect="1"/>
          </p:cNvPicPr>
          <p:nvPr/>
        </p:nvPicPr>
        <p:blipFill>
          <a:blip r:embed="rId2"/>
          <a:srcRect r="15627" b="-1"/>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026655-0235-0A04-2D35-35797EABABC1}"/>
              </a:ext>
            </a:extLst>
          </p:cNvPr>
          <p:cNvSpPr>
            <a:spLocks noGrp="1"/>
          </p:cNvSpPr>
          <p:nvPr>
            <p:ph type="ctrTitle"/>
          </p:nvPr>
        </p:nvSpPr>
        <p:spPr>
          <a:xfrm>
            <a:off x="481029" y="130216"/>
            <a:ext cx="6880470" cy="3298784"/>
          </a:xfrm>
        </p:spPr>
        <p:txBody>
          <a:bodyPr anchor="b">
            <a:noAutofit/>
          </a:bodyPr>
          <a:lstStyle/>
          <a:p>
            <a:pPr algn="l"/>
            <a:r>
              <a:rPr lang="en-US" sz="4000" b="0" i="0" dirty="0">
                <a:effectLst/>
                <a:latin typeface="Noto Serif" panose="020F0502020204030204" pitchFamily="18" charset="0"/>
              </a:rPr>
              <a:t>CW 1 </a:t>
            </a:r>
            <a:br>
              <a:rPr lang="en-US" sz="4000" b="0" i="0" dirty="0">
                <a:effectLst/>
                <a:latin typeface="Noto Serif" panose="020F0502020204030204" pitchFamily="18" charset="0"/>
              </a:rPr>
            </a:br>
            <a:r>
              <a:rPr lang="en-US" sz="4000" b="0" i="0" dirty="0">
                <a:effectLst/>
                <a:latin typeface="Noto Serif" panose="020F0502020204030204" pitchFamily="18" charset="0"/>
              </a:rPr>
              <a:t>Electronics Practice</a:t>
            </a:r>
            <a:br>
              <a:rPr lang="en-US" sz="4000" b="0" i="0" dirty="0">
                <a:effectLst/>
                <a:latin typeface="Noto Serif" panose="020F0502020204030204" pitchFamily="18" charset="0"/>
              </a:rPr>
            </a:br>
            <a:r>
              <a:rPr lang="en-US" sz="4000" b="0" i="0" dirty="0">
                <a:effectLst/>
                <a:latin typeface="Noto Serif" panose="020F0502020204030204" pitchFamily="18" charset="0"/>
              </a:rPr>
              <a:t>For </a:t>
            </a:r>
            <a:br>
              <a:rPr lang="en-US" sz="4000" b="0" i="0" dirty="0">
                <a:effectLst/>
                <a:latin typeface="Noto Serif" panose="020F0502020204030204" pitchFamily="18" charset="0"/>
              </a:rPr>
            </a:br>
            <a:r>
              <a:rPr lang="en-US" sz="4000" b="0" i="0" dirty="0">
                <a:effectLst/>
                <a:latin typeface="Noto Serif" panose="020F0502020204030204" pitchFamily="18" charset="0"/>
              </a:rPr>
              <a:t>Robotic Application</a:t>
            </a:r>
            <a:endParaRPr lang="en-US" sz="4000" dirty="0"/>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53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6860897-6775-F90C-E1E5-1856EB3D3DDC}"/>
              </a:ext>
            </a:extLst>
          </p:cNvPr>
          <p:cNvSpPr>
            <a:spLocks noGrp="1"/>
          </p:cNvSpPr>
          <p:nvPr>
            <p:ph type="title"/>
          </p:nvPr>
        </p:nvSpPr>
        <p:spPr>
          <a:xfrm>
            <a:off x="1137034" y="609597"/>
            <a:ext cx="9392421" cy="1330841"/>
          </a:xfrm>
        </p:spPr>
        <p:txBody>
          <a:bodyPr>
            <a:normAutofit/>
          </a:bodyPr>
          <a:lstStyle/>
          <a:p>
            <a:r>
              <a:rPr lang="en-US"/>
              <a:t>Introduction</a:t>
            </a:r>
            <a:endParaRPr lang="en-US" dirty="0"/>
          </a:p>
        </p:txBody>
      </p:sp>
      <p:sp>
        <p:nvSpPr>
          <p:cNvPr id="3" name="Content Placeholder 2">
            <a:extLst>
              <a:ext uri="{FF2B5EF4-FFF2-40B4-BE49-F238E27FC236}">
                <a16:creationId xmlns:a16="http://schemas.microsoft.com/office/drawing/2014/main" id="{0189A012-0ED5-6A37-E6F9-A5A59D8CC949}"/>
              </a:ext>
            </a:extLst>
          </p:cNvPr>
          <p:cNvSpPr>
            <a:spLocks noGrp="1"/>
          </p:cNvSpPr>
          <p:nvPr>
            <p:ph idx="1"/>
          </p:nvPr>
        </p:nvSpPr>
        <p:spPr>
          <a:xfrm>
            <a:off x="1137034" y="2198362"/>
            <a:ext cx="4958966" cy="3917773"/>
          </a:xfrm>
        </p:spPr>
        <p:txBody>
          <a:bodyPr>
            <a:normAutofit/>
          </a:bodyPr>
          <a:lstStyle/>
          <a:p>
            <a:r>
              <a:rPr lang="en-US" sz="2000"/>
              <a:t>This Arduino-based </a:t>
            </a:r>
            <a:r>
              <a:rPr lang="en-US" sz="2000" b="1"/>
              <a:t>smart robotic arm</a:t>
            </a:r>
            <a:r>
              <a:rPr lang="en-US" sz="2000"/>
              <a:t> integrates </a:t>
            </a:r>
            <a:r>
              <a:rPr lang="en-US" sz="2000" b="1"/>
              <a:t>servo motors, sensors, and safety features</a:t>
            </a:r>
            <a:r>
              <a:rPr lang="en-US" sz="2000"/>
              <a:t> for automated movement. It responds to </a:t>
            </a:r>
            <a:r>
              <a:rPr lang="en-US" sz="2000" b="1"/>
              <a:t>IR sensors, ultrasonic detection, and user commands</a:t>
            </a:r>
            <a:r>
              <a:rPr lang="en-US" sz="2000"/>
              <a:t>, with </a:t>
            </a:r>
            <a:r>
              <a:rPr lang="en-US" sz="2000" b="1"/>
              <a:t>LEDs and a buzzer</a:t>
            </a:r>
            <a:r>
              <a:rPr lang="en-US" sz="2000"/>
              <a:t> for real-time feedback. Key functions include </a:t>
            </a:r>
            <a:r>
              <a:rPr lang="en-US" sz="2000" b="1"/>
              <a:t>object detection, obstacle avoidance, and an emergency stop</a:t>
            </a:r>
            <a:r>
              <a:rPr lang="en-US" sz="2000"/>
              <a:t>, making it ideal for industrial, educational, and assistive applications.</a:t>
            </a:r>
            <a:endParaRPr lang="en-US" sz="2000" dirty="0"/>
          </a:p>
        </p:txBody>
      </p:sp>
      <p:pic>
        <p:nvPicPr>
          <p:cNvPr id="6" name="Picture 5" descr="A group of toys on a table&#10;&#10;AI-generated content may be incorrect.">
            <a:extLst>
              <a:ext uri="{FF2B5EF4-FFF2-40B4-BE49-F238E27FC236}">
                <a16:creationId xmlns:a16="http://schemas.microsoft.com/office/drawing/2014/main" id="{4C2ED0FF-B13C-8415-EEE6-B227AF7B7449}"/>
              </a:ext>
            </a:extLst>
          </p:cNvPr>
          <p:cNvPicPr>
            <a:picLocks noChangeAspect="1"/>
          </p:cNvPicPr>
          <p:nvPr/>
        </p:nvPicPr>
        <p:blipFill>
          <a:blip r:embed="rId2">
            <a:extLst>
              <a:ext uri="{28A0092B-C50C-407E-A947-70E740481C1C}">
                <a14:useLocalDpi xmlns:a14="http://schemas.microsoft.com/office/drawing/2010/main" val="0"/>
              </a:ext>
            </a:extLst>
          </a:blip>
          <a:srcRect l="31329"/>
          <a:stretch/>
        </p:blipFill>
        <p:spPr>
          <a:xfrm>
            <a:off x="6872978" y="1493959"/>
            <a:ext cx="4274838" cy="4668815"/>
          </a:xfrm>
          <a:prstGeom prst="rect">
            <a:avLst/>
          </a:prstGeom>
        </p:spPr>
      </p:pic>
      <p:sp>
        <p:nvSpPr>
          <p:cNvPr id="15" name="Freeform: Shape 1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4528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1C3F59-70FB-F211-3B90-885D327D979C}"/>
              </a:ext>
            </a:extLst>
          </p:cNvPr>
          <p:cNvSpPr>
            <a:spLocks noGrp="1"/>
          </p:cNvSpPr>
          <p:nvPr>
            <p:ph type="title"/>
          </p:nvPr>
        </p:nvSpPr>
        <p:spPr>
          <a:xfrm>
            <a:off x="838201" y="345810"/>
            <a:ext cx="5120561" cy="1325563"/>
          </a:xfrm>
        </p:spPr>
        <p:txBody>
          <a:bodyPr>
            <a:normAutofit/>
          </a:bodyPr>
          <a:lstStyle/>
          <a:p>
            <a:r>
              <a:rPr lang="en-US" dirty="0"/>
              <a:t>Getting same fully Functional Design</a:t>
            </a:r>
          </a:p>
        </p:txBody>
      </p:sp>
      <p:sp>
        <p:nvSpPr>
          <p:cNvPr id="9" name="Content Placeholder 8">
            <a:extLst>
              <a:ext uri="{FF2B5EF4-FFF2-40B4-BE49-F238E27FC236}">
                <a16:creationId xmlns:a16="http://schemas.microsoft.com/office/drawing/2014/main" id="{54BEC277-DA7C-54DC-FF23-CD16FFBFC5E8}"/>
              </a:ext>
            </a:extLst>
          </p:cNvPr>
          <p:cNvSpPr>
            <a:spLocks noGrp="1"/>
          </p:cNvSpPr>
          <p:nvPr>
            <p:ph idx="1"/>
          </p:nvPr>
        </p:nvSpPr>
        <p:spPr>
          <a:xfrm>
            <a:off x="838201" y="2286517"/>
            <a:ext cx="5092194" cy="4351338"/>
          </a:xfrm>
        </p:spPr>
        <p:txBody>
          <a:bodyPr>
            <a:normAutofit/>
          </a:bodyPr>
          <a:lstStyle/>
          <a:p>
            <a:r>
              <a:rPr lang="en-US" dirty="0">
                <a:latin typeface="Comic Sans MS" panose="030F0702030302020204" pitchFamily="66" charset="0"/>
              </a:rPr>
              <a:t>3D reversed drawing for servos and controller with specific dimension</a:t>
            </a:r>
          </a:p>
          <a:p>
            <a:r>
              <a:rPr lang="en-US" dirty="0">
                <a:latin typeface="Comic Sans MS" panose="030F0702030302020204" pitchFamily="66" charset="0"/>
              </a:rPr>
              <a:t>That will get no error printed mechanism </a:t>
            </a:r>
          </a:p>
          <a:p>
            <a:r>
              <a:rPr lang="en-US" dirty="0">
                <a:latin typeface="Comic Sans MS" panose="030F0702030302020204" pitchFamily="66" charset="0"/>
              </a:rPr>
              <a:t>Making sure with 3D simulation for joint and mechanism</a:t>
            </a:r>
          </a:p>
        </p:txBody>
      </p:sp>
      <p:sp>
        <p:nvSpPr>
          <p:cNvPr id="14" name="Oval 1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Content Placeholder 3" descr="A group of toys on a table&#10;&#10;AI-generated content may be incorrect.">
            <a:extLst>
              <a:ext uri="{FF2B5EF4-FFF2-40B4-BE49-F238E27FC236}">
                <a16:creationId xmlns:a16="http://schemas.microsoft.com/office/drawing/2014/main" id="{D35A4B03-225D-1E0A-6BA2-32BE759B29F6}"/>
              </a:ext>
            </a:extLst>
          </p:cNvPr>
          <p:cNvPicPr>
            <a:picLocks noChangeAspect="1"/>
          </p:cNvPicPr>
          <p:nvPr/>
        </p:nvPicPr>
        <p:blipFill>
          <a:blip r:embed="rId2">
            <a:extLst>
              <a:ext uri="{28A0092B-C50C-407E-A947-70E740481C1C}">
                <a14:useLocalDpi xmlns:a14="http://schemas.microsoft.com/office/drawing/2010/main" val="0"/>
              </a:ext>
            </a:extLst>
          </a:blip>
          <a:srcRect l="28546" t="4" r="766" b="15927"/>
          <a:stretch/>
        </p:blipFill>
        <p:spPr>
          <a:xfrm>
            <a:off x="7718361" y="2892951"/>
            <a:ext cx="4445143" cy="3965048"/>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6" name="Arc 15">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descr="A computer generated image of a robot arm&#10;&#10;AI-generated content may be incorrect.">
            <a:extLst>
              <a:ext uri="{FF2B5EF4-FFF2-40B4-BE49-F238E27FC236}">
                <a16:creationId xmlns:a16="http://schemas.microsoft.com/office/drawing/2014/main" id="{A5C82E3A-1209-94FB-7760-893BD7EEDEFA}"/>
              </a:ext>
            </a:extLst>
          </p:cNvPr>
          <p:cNvPicPr>
            <a:picLocks noChangeAspect="1"/>
          </p:cNvPicPr>
          <p:nvPr/>
        </p:nvPicPr>
        <p:blipFill>
          <a:blip r:embed="rId3">
            <a:extLst>
              <a:ext uri="{28A0092B-C50C-407E-A947-70E740481C1C}">
                <a14:useLocalDpi xmlns:a14="http://schemas.microsoft.com/office/drawing/2010/main" val="0"/>
              </a:ext>
            </a:extLst>
          </a:blip>
          <a:srcRect l="22044" t="6608" r="8740" b="2"/>
          <a:stretch/>
        </p:blipFill>
        <p:spPr>
          <a:xfrm>
            <a:off x="6078940" y="0"/>
            <a:ext cx="4065875" cy="3113230"/>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765548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5CE52A-9400-08C8-1B4B-317F73C8EDDB}"/>
              </a:ext>
            </a:extLst>
          </p:cNvPr>
          <p:cNvSpPr>
            <a:spLocks noGrp="1"/>
          </p:cNvSpPr>
          <p:nvPr>
            <p:ph type="title"/>
          </p:nvPr>
        </p:nvSpPr>
        <p:spPr>
          <a:xfrm>
            <a:off x="371094" y="1161288"/>
            <a:ext cx="3438144" cy="1239012"/>
          </a:xfrm>
        </p:spPr>
        <p:txBody>
          <a:bodyPr anchor="ctr">
            <a:normAutofit/>
          </a:bodyPr>
          <a:lstStyle/>
          <a:p>
            <a:r>
              <a:rPr lang="en-US" sz="2800"/>
              <a:t>3D design</a:t>
            </a: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C68FD079-140F-DAA2-5EF1-35D66E8DAC73}"/>
              </a:ext>
            </a:extLst>
          </p:cNvPr>
          <p:cNvSpPr>
            <a:spLocks noGrp="1"/>
          </p:cNvSpPr>
          <p:nvPr>
            <p:ph idx="1"/>
          </p:nvPr>
        </p:nvSpPr>
        <p:spPr>
          <a:xfrm>
            <a:off x="371093" y="2718054"/>
            <a:ext cx="3718585" cy="3207258"/>
          </a:xfrm>
        </p:spPr>
        <p:txBody>
          <a:bodyPr anchor="t">
            <a:normAutofit/>
          </a:bodyPr>
          <a:lstStyle/>
          <a:p>
            <a:r>
              <a:rPr lang="en-US" sz="1700" dirty="0"/>
              <a:t>In my design, I used 3 Standard servos and 2 Micro servos (metal Gear). </a:t>
            </a:r>
          </a:p>
          <a:p>
            <a:r>
              <a:rPr lang="en-US" sz="1700" dirty="0"/>
              <a:t>Balance weight </a:t>
            </a:r>
          </a:p>
          <a:p>
            <a:r>
              <a:rPr lang="en-US" sz="1700" dirty="0"/>
              <a:t>Move smoothly</a:t>
            </a:r>
          </a:p>
          <a:p>
            <a:r>
              <a:rPr lang="en-US" sz="1700" dirty="0"/>
              <a:t>Calculated damping and vibration for motor and movement</a:t>
            </a:r>
          </a:p>
          <a:p>
            <a:r>
              <a:rPr lang="en-US" sz="1700" dirty="0"/>
              <a:t>Compact &amp; Lightweight Design (used 3D printed bolts and nuts)</a:t>
            </a:r>
          </a:p>
          <a:p>
            <a:r>
              <a:rPr lang="en-US" sz="1700" dirty="0"/>
              <a:t>All parts are 100% fixed</a:t>
            </a:r>
          </a:p>
          <a:p>
            <a:endParaRPr lang="en-US" sz="1700" dirty="0"/>
          </a:p>
        </p:txBody>
      </p:sp>
      <p:pic>
        <p:nvPicPr>
          <p:cNvPr id="5" name="Content Placeholder 4" descr="A computer generated image of a robot arm&#10;&#10;AI-generated content may be incorrect.">
            <a:extLst>
              <a:ext uri="{FF2B5EF4-FFF2-40B4-BE49-F238E27FC236}">
                <a16:creationId xmlns:a16="http://schemas.microsoft.com/office/drawing/2014/main" id="{A00BBC97-5E39-1FC4-81F4-B8099F3E0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9607" y="202908"/>
            <a:ext cx="7041612" cy="3996115"/>
          </a:xfrm>
          <a:prstGeom prst="rect">
            <a:avLst/>
          </a:prstGeom>
        </p:spPr>
      </p:pic>
      <p:pic>
        <p:nvPicPr>
          <p:cNvPr id="7" name="Picture 6" descr="A hand holding a small blue device&#10;&#10;AI-generated content may be incorrect.">
            <a:extLst>
              <a:ext uri="{FF2B5EF4-FFF2-40B4-BE49-F238E27FC236}">
                <a16:creationId xmlns:a16="http://schemas.microsoft.com/office/drawing/2014/main" id="{F7DC5F30-F21F-AE38-3A70-E07328C761C1}"/>
              </a:ext>
            </a:extLst>
          </p:cNvPr>
          <p:cNvPicPr>
            <a:picLocks noChangeAspect="1"/>
          </p:cNvPicPr>
          <p:nvPr/>
        </p:nvPicPr>
        <p:blipFill>
          <a:blip r:embed="rId3">
            <a:extLst>
              <a:ext uri="{28A0092B-C50C-407E-A947-70E740481C1C}">
                <a14:useLocalDpi xmlns:a14="http://schemas.microsoft.com/office/drawing/2010/main" val="0"/>
              </a:ext>
            </a:extLst>
          </a:blip>
          <a:srcRect l="10267" t="23537" r="39190" b="34658"/>
          <a:stretch/>
        </p:blipFill>
        <p:spPr>
          <a:xfrm>
            <a:off x="8902840" y="4231175"/>
            <a:ext cx="2428421" cy="2237107"/>
          </a:xfrm>
          <a:prstGeom prst="rect">
            <a:avLst/>
          </a:prstGeom>
        </p:spPr>
      </p:pic>
      <p:pic>
        <p:nvPicPr>
          <p:cNvPr id="10" name="Picture 9">
            <a:extLst>
              <a:ext uri="{FF2B5EF4-FFF2-40B4-BE49-F238E27FC236}">
                <a16:creationId xmlns:a16="http://schemas.microsoft.com/office/drawing/2014/main" id="{AFDA7787-CBD1-DCFE-65ED-3347D41B93D4}"/>
              </a:ext>
            </a:extLst>
          </p:cNvPr>
          <p:cNvPicPr>
            <a:picLocks noChangeAspect="1"/>
          </p:cNvPicPr>
          <p:nvPr/>
        </p:nvPicPr>
        <p:blipFill>
          <a:blip r:embed="rId4"/>
          <a:stretch>
            <a:fillRect/>
          </a:stretch>
        </p:blipFill>
        <p:spPr>
          <a:xfrm>
            <a:off x="5531706" y="4192718"/>
            <a:ext cx="2821445" cy="2370962"/>
          </a:xfrm>
          <a:prstGeom prst="rect">
            <a:avLst/>
          </a:prstGeom>
        </p:spPr>
      </p:pic>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BF1D4E97-1811-BFA6-E2FF-A4DEFB578E2C}"/>
                  </a:ext>
                </a:extLst>
              </p14:cNvPr>
              <p14:cNvContentPartPr/>
              <p14:nvPr/>
            </p14:nvContentPartPr>
            <p14:xfrm>
              <a:off x="6882955" y="4340465"/>
              <a:ext cx="100440" cy="2291400"/>
            </p14:xfrm>
          </p:contentPart>
        </mc:Choice>
        <mc:Fallback>
          <p:pic>
            <p:nvPicPr>
              <p:cNvPr id="15" name="Ink 14">
                <a:extLst>
                  <a:ext uri="{FF2B5EF4-FFF2-40B4-BE49-F238E27FC236}">
                    <a16:creationId xmlns:a16="http://schemas.microsoft.com/office/drawing/2014/main" id="{BF1D4E97-1811-BFA6-E2FF-A4DEFB578E2C}"/>
                  </a:ext>
                </a:extLst>
              </p:cNvPr>
              <p:cNvPicPr/>
              <p:nvPr/>
            </p:nvPicPr>
            <p:blipFill>
              <a:blip r:embed="rId6"/>
              <a:stretch>
                <a:fillRect/>
              </a:stretch>
            </p:blipFill>
            <p:spPr>
              <a:xfrm>
                <a:off x="6876835" y="4334345"/>
                <a:ext cx="112680" cy="2303640"/>
              </a:xfrm>
              <a:prstGeom prst="rect">
                <a:avLst/>
              </a:prstGeom>
            </p:spPr>
          </p:pic>
        </mc:Fallback>
      </mc:AlternateContent>
      <p:sp>
        <p:nvSpPr>
          <p:cNvPr id="17" name="TextBox 16">
            <a:extLst>
              <a:ext uri="{FF2B5EF4-FFF2-40B4-BE49-F238E27FC236}">
                <a16:creationId xmlns:a16="http://schemas.microsoft.com/office/drawing/2014/main" id="{8520F503-1F05-5188-5324-5A4E63FDBDB7}"/>
              </a:ext>
            </a:extLst>
          </p:cNvPr>
          <p:cNvSpPr txBox="1"/>
          <p:nvPr/>
        </p:nvSpPr>
        <p:spPr>
          <a:xfrm>
            <a:off x="7284228" y="4340465"/>
            <a:ext cx="1199536" cy="461665"/>
          </a:xfrm>
          <a:prstGeom prst="rect">
            <a:avLst/>
          </a:prstGeom>
          <a:noFill/>
        </p:spPr>
        <p:txBody>
          <a:bodyPr wrap="square" rtlCol="0">
            <a:spAutoFit/>
          </a:bodyPr>
          <a:lstStyle/>
          <a:p>
            <a:r>
              <a:rPr lang="en-US" sz="1200" dirty="0"/>
              <a:t>Standard servo weight</a:t>
            </a:r>
          </a:p>
        </p:txBody>
      </p:sp>
      <p:sp>
        <p:nvSpPr>
          <p:cNvPr id="19" name="TextBox 18">
            <a:extLst>
              <a:ext uri="{FF2B5EF4-FFF2-40B4-BE49-F238E27FC236}">
                <a16:creationId xmlns:a16="http://schemas.microsoft.com/office/drawing/2014/main" id="{5FEBA99F-CB9E-15F1-5AA2-36C8B0D25911}"/>
              </a:ext>
            </a:extLst>
          </p:cNvPr>
          <p:cNvSpPr txBox="1"/>
          <p:nvPr/>
        </p:nvSpPr>
        <p:spPr>
          <a:xfrm>
            <a:off x="5531706" y="4231175"/>
            <a:ext cx="1199536" cy="276999"/>
          </a:xfrm>
          <a:prstGeom prst="rect">
            <a:avLst/>
          </a:prstGeom>
          <a:noFill/>
        </p:spPr>
        <p:txBody>
          <a:bodyPr wrap="square" rtlCol="0">
            <a:spAutoFit/>
          </a:bodyPr>
          <a:lstStyle/>
          <a:p>
            <a:r>
              <a:rPr lang="en-US" sz="1200" dirty="0"/>
              <a:t>Gripper weight</a:t>
            </a:r>
          </a:p>
        </p:txBody>
      </p:sp>
      <mc:AlternateContent xmlns:mc="http://schemas.openxmlformats.org/markup-compatibility/2006">
        <mc:Choice xmlns:p14="http://schemas.microsoft.com/office/powerpoint/2010/main" Requires="p14">
          <p:contentPart p14:bwMode="auto" r:id="rId7">
            <p14:nvContentPartPr>
              <p14:cNvPr id="27" name="Ink 26">
                <a:extLst>
                  <a:ext uri="{FF2B5EF4-FFF2-40B4-BE49-F238E27FC236}">
                    <a16:creationId xmlns:a16="http://schemas.microsoft.com/office/drawing/2014/main" id="{F0A145B8-48CC-AB91-24B8-8AFDA1FEB660}"/>
                  </a:ext>
                </a:extLst>
              </p14:cNvPr>
              <p14:cNvContentPartPr/>
              <p14:nvPr/>
            </p14:nvContentPartPr>
            <p14:xfrm>
              <a:off x="7185600" y="4884060"/>
              <a:ext cx="243720" cy="503640"/>
            </p14:xfrm>
          </p:contentPart>
        </mc:Choice>
        <mc:Fallback>
          <p:pic>
            <p:nvPicPr>
              <p:cNvPr id="27" name="Ink 26">
                <a:extLst>
                  <a:ext uri="{FF2B5EF4-FFF2-40B4-BE49-F238E27FC236}">
                    <a16:creationId xmlns:a16="http://schemas.microsoft.com/office/drawing/2014/main" id="{F0A145B8-48CC-AB91-24B8-8AFDA1FEB660}"/>
                  </a:ext>
                </a:extLst>
              </p:cNvPr>
              <p:cNvPicPr/>
              <p:nvPr/>
            </p:nvPicPr>
            <p:blipFill>
              <a:blip r:embed="rId8"/>
              <a:stretch>
                <a:fillRect/>
              </a:stretch>
            </p:blipFill>
            <p:spPr>
              <a:xfrm>
                <a:off x="7179480" y="4877940"/>
                <a:ext cx="255960" cy="515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9" name="Ink 28">
                <a:extLst>
                  <a:ext uri="{FF2B5EF4-FFF2-40B4-BE49-F238E27FC236}">
                    <a16:creationId xmlns:a16="http://schemas.microsoft.com/office/drawing/2014/main" id="{A8B9E5DA-67B8-BD8A-E85D-41908874EAF7}"/>
                  </a:ext>
                </a:extLst>
              </p14:cNvPr>
              <p14:cNvContentPartPr/>
              <p14:nvPr/>
            </p14:nvContentPartPr>
            <p14:xfrm>
              <a:off x="7178040" y="5387340"/>
              <a:ext cx="99360" cy="351000"/>
            </p14:xfrm>
          </p:contentPart>
        </mc:Choice>
        <mc:Fallback>
          <p:pic>
            <p:nvPicPr>
              <p:cNvPr id="29" name="Ink 28">
                <a:extLst>
                  <a:ext uri="{FF2B5EF4-FFF2-40B4-BE49-F238E27FC236}">
                    <a16:creationId xmlns:a16="http://schemas.microsoft.com/office/drawing/2014/main" id="{A8B9E5DA-67B8-BD8A-E85D-41908874EAF7}"/>
                  </a:ext>
                </a:extLst>
              </p:cNvPr>
              <p:cNvPicPr/>
              <p:nvPr/>
            </p:nvPicPr>
            <p:blipFill>
              <a:blip r:embed="rId10"/>
              <a:stretch>
                <a:fillRect/>
              </a:stretch>
            </p:blipFill>
            <p:spPr>
              <a:xfrm>
                <a:off x="7171560" y="5380860"/>
                <a:ext cx="111600" cy="363240"/>
              </a:xfrm>
              <a:prstGeom prst="rect">
                <a:avLst/>
              </a:prstGeom>
            </p:spPr>
          </p:pic>
        </mc:Fallback>
      </mc:AlternateContent>
      <p:sp>
        <p:nvSpPr>
          <p:cNvPr id="30" name="TextBox 29">
            <a:extLst>
              <a:ext uri="{FF2B5EF4-FFF2-40B4-BE49-F238E27FC236}">
                <a16:creationId xmlns:a16="http://schemas.microsoft.com/office/drawing/2014/main" id="{571F5103-5636-2E92-2C73-4C94920BE1EA}"/>
              </a:ext>
            </a:extLst>
          </p:cNvPr>
          <p:cNvSpPr txBox="1"/>
          <p:nvPr/>
        </p:nvSpPr>
        <p:spPr>
          <a:xfrm>
            <a:off x="7277400" y="5193003"/>
            <a:ext cx="1199536" cy="276999"/>
          </a:xfrm>
          <a:prstGeom prst="rect">
            <a:avLst/>
          </a:prstGeom>
          <a:noFill/>
        </p:spPr>
        <p:txBody>
          <a:bodyPr wrap="square" rtlCol="0">
            <a:spAutoFit/>
          </a:bodyPr>
          <a:lstStyle/>
          <a:p>
            <a:r>
              <a:rPr lang="en-US" sz="1200" dirty="0"/>
              <a:t>Carved arm</a:t>
            </a:r>
          </a:p>
        </p:txBody>
      </p:sp>
    </p:spTree>
    <p:extLst>
      <p:ext uri="{BB962C8B-B14F-4D97-AF65-F5344CB8AC3E}">
        <p14:creationId xmlns:p14="http://schemas.microsoft.com/office/powerpoint/2010/main" val="529144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E8ED09-F4B0-0100-50A3-AD2AA573EB20}"/>
              </a:ext>
            </a:extLst>
          </p:cNvPr>
          <p:cNvSpPr>
            <a:spLocks noGrp="1"/>
          </p:cNvSpPr>
          <p:nvPr>
            <p:ph type="title"/>
          </p:nvPr>
        </p:nvSpPr>
        <p:spPr>
          <a:xfrm>
            <a:off x="838201" y="345810"/>
            <a:ext cx="5120561" cy="1325563"/>
          </a:xfrm>
        </p:spPr>
        <p:txBody>
          <a:bodyPr vert="horz" lIns="91440" tIns="45720" rIns="91440" bIns="45720" rtlCol="0">
            <a:normAutofit/>
          </a:bodyPr>
          <a:lstStyle/>
          <a:p>
            <a:r>
              <a:rPr lang="en-US" kern="1200">
                <a:latin typeface="+mj-lt"/>
                <a:ea typeface="+mj-ea"/>
                <a:cs typeface="+mj-cs"/>
              </a:rPr>
              <a:t>3D printed bearing</a:t>
            </a:r>
          </a:p>
        </p:txBody>
      </p:sp>
      <p:sp>
        <p:nvSpPr>
          <p:cNvPr id="11" name="Content Placeholder 10">
            <a:extLst>
              <a:ext uri="{FF2B5EF4-FFF2-40B4-BE49-F238E27FC236}">
                <a16:creationId xmlns:a16="http://schemas.microsoft.com/office/drawing/2014/main" id="{F0241771-2BDD-0A42-4F6F-DFE2756AA9EC}"/>
              </a:ext>
            </a:extLst>
          </p:cNvPr>
          <p:cNvSpPr>
            <a:spLocks noGrp="1"/>
          </p:cNvSpPr>
          <p:nvPr>
            <p:ph idx="1"/>
          </p:nvPr>
        </p:nvSpPr>
        <p:spPr>
          <a:xfrm>
            <a:off x="838201" y="1886673"/>
            <a:ext cx="4858093" cy="4290290"/>
          </a:xfrm>
        </p:spPr>
        <p:txBody>
          <a:bodyPr vert="horz" lIns="91440" tIns="45720" rIns="91440" bIns="45720" rtlCol="0">
            <a:normAutofit/>
          </a:bodyPr>
          <a:lstStyle/>
          <a:p>
            <a:r>
              <a:rPr lang="en-US" kern="1200" dirty="0">
                <a:latin typeface="+mn-lt"/>
                <a:ea typeface="+mn-ea"/>
                <a:cs typeface="+mn-cs"/>
              </a:rPr>
              <a:t>To get smoothed moving, need bearing. </a:t>
            </a:r>
          </a:p>
          <a:p>
            <a:r>
              <a:rPr lang="en-US" dirty="0"/>
              <a:t>Implemented my own design for 3D printed bearing</a:t>
            </a:r>
          </a:p>
          <a:p>
            <a:r>
              <a:rPr lang="en-US" u="sng" dirty="0"/>
              <a:t>Using bearing and gearing is not to damage the servo motors</a:t>
            </a:r>
            <a:r>
              <a:rPr lang="en-US" dirty="0"/>
              <a:t> and will smooth</a:t>
            </a:r>
          </a:p>
          <a:p>
            <a:endParaRPr lang="en-US" dirty="0"/>
          </a:p>
        </p:txBody>
      </p:sp>
      <p:sp>
        <p:nvSpPr>
          <p:cNvPr id="34" name="Oval 3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A blue round object with wires and a lid&#10;&#10;AI-generated content may be incorrect.">
            <a:extLst>
              <a:ext uri="{FF2B5EF4-FFF2-40B4-BE49-F238E27FC236}">
                <a16:creationId xmlns:a16="http://schemas.microsoft.com/office/drawing/2014/main" id="{2F0F1FE9-36B0-A90A-2DDC-6F4C813B54B8}"/>
              </a:ext>
            </a:extLst>
          </p:cNvPr>
          <p:cNvPicPr>
            <a:picLocks noChangeAspect="1"/>
          </p:cNvPicPr>
          <p:nvPr/>
        </p:nvPicPr>
        <p:blipFill>
          <a:blip r:embed="rId2">
            <a:extLst>
              <a:ext uri="{28A0092B-C50C-407E-A947-70E740481C1C}">
                <a14:useLocalDpi xmlns:a14="http://schemas.microsoft.com/office/drawing/2010/main" val="0"/>
              </a:ext>
            </a:extLst>
          </a:blip>
          <a:srcRect t="27662" r="-3" b="140"/>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36" name="Arc 35">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a:extLst>
              <a:ext uri="{FF2B5EF4-FFF2-40B4-BE49-F238E27FC236}">
                <a16:creationId xmlns:a16="http://schemas.microsoft.com/office/drawing/2014/main" id="{9005CEA1-FA17-9E08-9E21-C1E4149777E9}"/>
              </a:ext>
            </a:extLst>
          </p:cNvPr>
          <p:cNvPicPr>
            <a:picLocks noChangeAspect="1"/>
          </p:cNvPicPr>
          <p:nvPr/>
        </p:nvPicPr>
        <p:blipFill>
          <a:blip r:embed="rId3"/>
          <a:srcRect t="10039" r="6985" b="2"/>
          <a:stretch/>
        </p:blipFill>
        <p:spPr>
          <a:xfrm>
            <a:off x="6261606" y="-1"/>
            <a:ext cx="3912049" cy="3007911"/>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22066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8B91EA-502E-B839-9EBD-2546F3E813A0}"/>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sz="5200" kern="1200">
                <a:solidFill>
                  <a:schemeClr val="tx1"/>
                </a:solidFill>
                <a:latin typeface="+mj-lt"/>
                <a:ea typeface="+mj-ea"/>
                <a:cs typeface="+mj-cs"/>
              </a:rPr>
              <a:t>Pin Connection</a:t>
            </a:r>
          </a:p>
        </p:txBody>
      </p:sp>
      <p:pic>
        <p:nvPicPr>
          <p:cNvPr id="5" name="Content Placeholder 4">
            <a:extLst>
              <a:ext uri="{FF2B5EF4-FFF2-40B4-BE49-F238E27FC236}">
                <a16:creationId xmlns:a16="http://schemas.microsoft.com/office/drawing/2014/main" id="{5A17E4A8-E763-E621-25DD-78EEBA81856A}"/>
              </a:ext>
            </a:extLst>
          </p:cNvPr>
          <p:cNvPicPr>
            <a:picLocks noGrp="1" noChangeAspect="1"/>
          </p:cNvPicPr>
          <p:nvPr>
            <p:ph idx="1"/>
          </p:nvPr>
        </p:nvPicPr>
        <p:blipFill>
          <a:blip r:embed="rId2"/>
          <a:srcRect t="1" r="17676" b="1"/>
          <a:stretch/>
        </p:blipFill>
        <p:spPr>
          <a:xfrm>
            <a:off x="319321" y="2068804"/>
            <a:ext cx="5337901" cy="3890357"/>
          </a:xfrm>
          <a:prstGeom prst="rect">
            <a:avLst/>
          </a:prstGeom>
        </p:spPr>
      </p:pic>
      <p:pic>
        <p:nvPicPr>
          <p:cNvPr id="7" name="Picture 6">
            <a:extLst>
              <a:ext uri="{FF2B5EF4-FFF2-40B4-BE49-F238E27FC236}">
                <a16:creationId xmlns:a16="http://schemas.microsoft.com/office/drawing/2014/main" id="{54589A6C-1922-F680-0D45-7580DCEA4DA9}"/>
              </a:ext>
            </a:extLst>
          </p:cNvPr>
          <p:cNvPicPr>
            <a:picLocks noChangeAspect="1"/>
          </p:cNvPicPr>
          <p:nvPr/>
        </p:nvPicPr>
        <p:blipFill>
          <a:blip r:embed="rId3"/>
          <a:srcRect r="3813"/>
          <a:stretch/>
        </p:blipFill>
        <p:spPr>
          <a:xfrm>
            <a:off x="5657222" y="2068803"/>
            <a:ext cx="6109398" cy="3890357"/>
          </a:xfrm>
          <a:prstGeom prst="rect">
            <a:avLst/>
          </a:prstGeom>
        </p:spPr>
      </p:pic>
    </p:spTree>
    <p:extLst>
      <p:ext uri="{BB962C8B-B14F-4D97-AF65-F5344CB8AC3E}">
        <p14:creationId xmlns:p14="http://schemas.microsoft.com/office/powerpoint/2010/main" val="5389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26C9A-16BF-3841-EAF1-D91FB1C07E62}"/>
              </a:ext>
            </a:extLst>
          </p:cNvPr>
          <p:cNvSpPr>
            <a:spLocks noGrp="1"/>
          </p:cNvSpPr>
          <p:nvPr>
            <p:ph type="title"/>
          </p:nvPr>
        </p:nvSpPr>
        <p:spPr>
          <a:xfrm>
            <a:off x="793662" y="386930"/>
            <a:ext cx="10066122" cy="1298448"/>
          </a:xfrm>
        </p:spPr>
        <p:txBody>
          <a:bodyPr anchor="b">
            <a:normAutofit/>
          </a:bodyPr>
          <a:lstStyle/>
          <a:p>
            <a:r>
              <a:rPr lang="en-US" sz="4800" dirty="0"/>
              <a:t>Why used LM2596</a:t>
            </a: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63EF5DBA-B943-D4CE-C92C-7A352D03C336}"/>
              </a:ext>
            </a:extLst>
          </p:cNvPr>
          <p:cNvSpPr>
            <a:spLocks noGrp="1" noChangeArrowheads="1"/>
          </p:cNvSpPr>
          <p:nvPr>
            <p:ph idx="1"/>
          </p:nvPr>
        </p:nvSpPr>
        <p:spPr bwMode="auto">
          <a:xfrm>
            <a:off x="793661" y="2599509"/>
            <a:ext cx="4530898" cy="3639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latin typeface="Arial" panose="020B0604020202020204" pitchFamily="34" charset="0"/>
              </a:rPr>
              <a:t>Current Demand</a:t>
            </a:r>
            <a:r>
              <a:rPr kumimoji="0" lang="en-US" altLang="en-US" sz="1300" b="0" i="0" u="none" strike="noStrike" cap="none" normalizeH="0" baseline="0">
                <a:ln>
                  <a:noFill/>
                </a:ln>
                <a:effectLst/>
                <a:latin typeface="Arial" panose="020B0604020202020204" pitchFamily="34" charset="0"/>
              </a:rPr>
              <a:t>: Each standard servo requires 2A. With 3 standard servos and 2 micro servos, the total current requirement exceeds what a single regulator can handle.</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latin typeface="Arial" panose="020B0604020202020204" pitchFamily="34" charset="0"/>
              </a:rPr>
              <a:t>Power Distribution</a:t>
            </a:r>
            <a:r>
              <a:rPr kumimoji="0" lang="en-US" altLang="en-US" sz="1300" b="0" i="0" u="none" strike="noStrike" cap="none" normalizeH="0" baseline="0">
                <a:ln>
                  <a:noFill/>
                </a:ln>
                <a:effectLst/>
                <a:latin typeface="Arial" panose="020B0604020202020204" pitchFamily="34" charset="0"/>
              </a:rPr>
              <a:t>: Using two LM2596 regulators ensures an even distribution of power across servos, preventing overloading and potential damage.</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latin typeface="Arial" panose="020B0604020202020204" pitchFamily="34" charset="0"/>
              </a:rPr>
              <a:t>Efficiency</a:t>
            </a:r>
            <a:r>
              <a:rPr kumimoji="0" lang="en-US" altLang="en-US" sz="1300" b="0" i="0" u="none" strike="noStrike" cap="none" normalizeH="0" baseline="0">
                <a:ln>
                  <a:noFill/>
                </a:ln>
                <a:effectLst/>
                <a:latin typeface="Arial" panose="020B0604020202020204" pitchFamily="34" charset="0"/>
              </a:rPr>
              <a:t>: Dual regulators improve efficiency by reducing the chance of overheating and voltage drops, ensuring stable operation.</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latin typeface="Arial" panose="020B0604020202020204" pitchFamily="34" charset="0"/>
              </a:rPr>
              <a:t>Reliability</a:t>
            </a:r>
            <a:r>
              <a:rPr kumimoji="0" lang="en-US" altLang="en-US" sz="1300" b="0" i="0" u="none" strike="noStrike" cap="none" normalizeH="0" baseline="0">
                <a:ln>
                  <a:noFill/>
                </a:ln>
                <a:effectLst/>
                <a:latin typeface="Arial" panose="020B0604020202020204" pitchFamily="34" charset="0"/>
              </a:rPr>
              <a:t>: Separating the voltage and current load across two regulators minimizes the risk of instability or failure in the power supply system, keeping the robotic arm running smoothly.</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a:ln>
                  <a:noFill/>
                </a:ln>
                <a:effectLst/>
                <a:latin typeface="Arial" panose="020B0604020202020204" pitchFamily="34" charset="0"/>
              </a:rPr>
              <a:t>Overload Prevention</a:t>
            </a:r>
            <a:r>
              <a:rPr kumimoji="0" lang="en-US" altLang="en-US" sz="1300" b="0" i="0" u="none" strike="noStrike" cap="none" normalizeH="0" baseline="0">
                <a:ln>
                  <a:noFill/>
                </a:ln>
                <a:effectLst/>
                <a:latin typeface="Arial" panose="020B0604020202020204" pitchFamily="34" charset="0"/>
              </a:rPr>
              <a:t>: This setup prevents a single regulator from being overloaded, enhancing the overall durability and longevity of the system.</a:t>
            </a:r>
          </a:p>
        </p:txBody>
      </p:sp>
      <p:pic>
        <p:nvPicPr>
          <p:cNvPr id="6" name="Picture 5" descr="A green box with a circuit board and wires&#10;&#10;AI-generated content may be incorrect.">
            <a:extLst>
              <a:ext uri="{FF2B5EF4-FFF2-40B4-BE49-F238E27FC236}">
                <a16:creationId xmlns:a16="http://schemas.microsoft.com/office/drawing/2014/main" id="{D0326715-0755-BBBE-17E9-2370E75A9109}"/>
              </a:ext>
            </a:extLst>
          </p:cNvPr>
          <p:cNvPicPr>
            <a:picLocks noChangeAspect="1"/>
          </p:cNvPicPr>
          <p:nvPr/>
        </p:nvPicPr>
        <p:blipFill>
          <a:blip r:embed="rId2">
            <a:extLst>
              <a:ext uri="{28A0092B-C50C-407E-A947-70E740481C1C}">
                <a14:useLocalDpi xmlns:a14="http://schemas.microsoft.com/office/drawing/2010/main" val="0"/>
              </a:ext>
            </a:extLst>
          </a:blip>
          <a:srcRect r="2" b="3846"/>
          <a:stretch/>
        </p:blipFill>
        <p:spPr>
          <a:xfrm>
            <a:off x="5911532" y="2484255"/>
            <a:ext cx="5150277" cy="3714244"/>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2455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136628-5AD8-4CCF-0F0D-0200176AF83F}"/>
              </a:ext>
            </a:extLst>
          </p:cNvPr>
          <p:cNvSpPr>
            <a:spLocks noGrp="1"/>
          </p:cNvSpPr>
          <p:nvPr>
            <p:ph type="title"/>
          </p:nvPr>
        </p:nvSpPr>
        <p:spPr>
          <a:xfrm>
            <a:off x="395893" y="557437"/>
            <a:ext cx="2999232" cy="1310428"/>
          </a:xfrm>
        </p:spPr>
        <p:txBody>
          <a:bodyPr vert="horz" lIns="91440" tIns="45720" rIns="91440" bIns="45720" rtlCol="0" anchor="ctr">
            <a:normAutofit/>
          </a:bodyPr>
          <a:lstStyle/>
          <a:p>
            <a:r>
              <a:rPr lang="en-US" sz="3500" kern="1200" dirty="0">
                <a:solidFill>
                  <a:schemeClr val="tx1"/>
                </a:solidFill>
                <a:latin typeface="+mj-lt"/>
                <a:ea typeface="+mj-ea"/>
                <a:cs typeface="+mj-cs"/>
              </a:rPr>
              <a:t>Circuit board for control box</a:t>
            </a:r>
          </a:p>
        </p:txBody>
      </p:sp>
      <p:sp>
        <p:nvSpPr>
          <p:cNvPr id="19" name="Rectangle 18">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8">
            <a:extLst>
              <a:ext uri="{FF2B5EF4-FFF2-40B4-BE49-F238E27FC236}">
                <a16:creationId xmlns:a16="http://schemas.microsoft.com/office/drawing/2014/main" id="{26B923A1-7209-9676-148C-D958F405176D}"/>
              </a:ext>
            </a:extLst>
          </p:cNvPr>
          <p:cNvSpPr txBox="1">
            <a:spLocks/>
          </p:cNvSpPr>
          <p:nvPr/>
        </p:nvSpPr>
        <p:spPr>
          <a:xfrm>
            <a:off x="371094" y="2718054"/>
            <a:ext cx="3726344" cy="320725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t>Clear wiring and sure soldering</a:t>
            </a:r>
          </a:p>
          <a:p>
            <a:r>
              <a:rPr lang="en-US" sz="2200" dirty="0"/>
              <a:t>Declare the VCC and GND</a:t>
            </a:r>
          </a:p>
          <a:p>
            <a:r>
              <a:rPr lang="en-US" sz="2200" dirty="0"/>
              <a:t>Using standard wire color</a:t>
            </a:r>
          </a:p>
          <a:p>
            <a:r>
              <a:rPr lang="en-US" sz="2200" dirty="0"/>
              <a:t>Using suitable Ω resistors for </a:t>
            </a:r>
            <a:r>
              <a:rPr lang="en-US" sz="2200" dirty="0" err="1"/>
              <a:t>leds</a:t>
            </a:r>
            <a:r>
              <a:rPr lang="en-US" sz="2200" dirty="0"/>
              <a:t> and buttons</a:t>
            </a:r>
          </a:p>
          <a:p>
            <a:pPr marL="0"/>
            <a:endParaRPr lang="en-US" sz="2200" dirty="0"/>
          </a:p>
          <a:p>
            <a:endParaRPr lang="en-US" sz="2200" dirty="0"/>
          </a:p>
        </p:txBody>
      </p:sp>
      <p:pic>
        <p:nvPicPr>
          <p:cNvPr id="5" name="Content Placeholder 4" descr="A circuit board with wires and wires&#10;&#10;AI-generated content may be incorrect.">
            <a:extLst>
              <a:ext uri="{FF2B5EF4-FFF2-40B4-BE49-F238E27FC236}">
                <a16:creationId xmlns:a16="http://schemas.microsoft.com/office/drawing/2014/main" id="{D258E433-61A5-DE51-10CE-A286028472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46562" y="883539"/>
            <a:ext cx="6776630" cy="5082473"/>
          </a:xfrm>
          <a:prstGeom prst="rect">
            <a:avLst/>
          </a:prstGeom>
        </p:spPr>
      </p:pic>
    </p:spTree>
    <p:extLst>
      <p:ext uri="{BB962C8B-B14F-4D97-AF65-F5344CB8AC3E}">
        <p14:creationId xmlns:p14="http://schemas.microsoft.com/office/powerpoint/2010/main" val="103351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B08CE-94A5-374B-F3EC-8DBBE2BEA3F9}"/>
              </a:ext>
            </a:extLst>
          </p:cNvPr>
          <p:cNvSpPr>
            <a:spLocks noGrp="1"/>
          </p:cNvSpPr>
          <p:nvPr>
            <p:ph type="title"/>
          </p:nvPr>
        </p:nvSpPr>
        <p:spPr>
          <a:xfrm>
            <a:off x="793662" y="386930"/>
            <a:ext cx="10066122" cy="1298448"/>
          </a:xfrm>
        </p:spPr>
        <p:txBody>
          <a:bodyPr anchor="b">
            <a:normAutofit/>
          </a:bodyPr>
          <a:lstStyle/>
          <a:p>
            <a:r>
              <a:rPr lang="en-US" sz="4800" dirty="0"/>
              <a:t>Clear design and Fully Functional</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7B92A262-948B-43DA-680C-272B232BF28D}"/>
              </a:ext>
            </a:extLst>
          </p:cNvPr>
          <p:cNvSpPr>
            <a:spLocks noGrp="1"/>
          </p:cNvSpPr>
          <p:nvPr>
            <p:ph idx="1"/>
          </p:nvPr>
        </p:nvSpPr>
        <p:spPr>
          <a:xfrm>
            <a:off x="793661" y="2599509"/>
            <a:ext cx="4530898" cy="3639450"/>
          </a:xfrm>
        </p:spPr>
        <p:txBody>
          <a:bodyPr anchor="ctr">
            <a:normAutofit/>
          </a:bodyPr>
          <a:lstStyle/>
          <a:p>
            <a:r>
              <a:rPr lang="en-US" sz="2000" dirty="0"/>
              <a:t>Using 3pin switch to off, AC mode, DC mode</a:t>
            </a:r>
          </a:p>
          <a:p>
            <a:r>
              <a:rPr lang="en-US" sz="2000" dirty="0"/>
              <a:t>Hole for buzzer not to vibrate and not to get noise for the control circuit</a:t>
            </a:r>
          </a:p>
          <a:p>
            <a:r>
              <a:rPr lang="en-US" sz="2000" dirty="0"/>
              <a:t>User interface is easy to use</a:t>
            </a:r>
          </a:p>
          <a:p>
            <a:r>
              <a:rPr lang="en-US" sz="2000" dirty="0"/>
              <a:t>Full function for robot arm</a:t>
            </a:r>
          </a:p>
        </p:txBody>
      </p:sp>
      <p:pic>
        <p:nvPicPr>
          <p:cNvPr id="5" name="Content Placeholder 4" descr="A green box with buttons and wires&#10;&#10;AI-generated content may be incorrect.">
            <a:extLst>
              <a:ext uri="{FF2B5EF4-FFF2-40B4-BE49-F238E27FC236}">
                <a16:creationId xmlns:a16="http://schemas.microsoft.com/office/drawing/2014/main" id="{3C8E8F6A-AAE1-DF78-B0BC-5FDFCC2340DE}"/>
              </a:ext>
            </a:extLst>
          </p:cNvPr>
          <p:cNvPicPr>
            <a:picLocks noChangeAspect="1"/>
          </p:cNvPicPr>
          <p:nvPr/>
        </p:nvPicPr>
        <p:blipFill>
          <a:blip r:embed="rId2">
            <a:extLst>
              <a:ext uri="{28A0092B-C50C-407E-A947-70E740481C1C}">
                <a14:useLocalDpi xmlns:a14="http://schemas.microsoft.com/office/drawing/2010/main" val="0"/>
              </a:ext>
            </a:extLst>
          </a:blip>
          <a:srcRect r="22003" b="2"/>
          <a:stretch/>
        </p:blipFill>
        <p:spPr>
          <a:xfrm>
            <a:off x="5911532" y="2484255"/>
            <a:ext cx="5150277" cy="3714244"/>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1536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735992-BF6D-EAED-CE85-FEA8F89AB535}"/>
              </a:ext>
            </a:extLst>
          </p:cNvPr>
          <p:cNvSpPr>
            <a:spLocks noGrp="1"/>
          </p:cNvSpPr>
          <p:nvPr>
            <p:ph type="title"/>
          </p:nvPr>
        </p:nvSpPr>
        <p:spPr>
          <a:xfrm>
            <a:off x="793662" y="386930"/>
            <a:ext cx="10066122" cy="1298448"/>
          </a:xfrm>
        </p:spPr>
        <p:txBody>
          <a:bodyPr anchor="b">
            <a:normAutofit/>
          </a:bodyPr>
          <a:lstStyle/>
          <a:p>
            <a:r>
              <a:rPr lang="en-US" sz="4800"/>
              <a:t>Wiring diagram and simulation</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ADBB496D-8D0C-A282-AAAB-B5407FEE1987}"/>
              </a:ext>
            </a:extLst>
          </p:cNvPr>
          <p:cNvSpPr>
            <a:spLocks noGrp="1"/>
          </p:cNvSpPr>
          <p:nvPr>
            <p:ph idx="1"/>
          </p:nvPr>
        </p:nvSpPr>
        <p:spPr>
          <a:xfrm>
            <a:off x="194884" y="2308106"/>
            <a:ext cx="3828581" cy="3639450"/>
          </a:xfrm>
        </p:spPr>
        <p:txBody>
          <a:bodyPr anchor="ctr">
            <a:normAutofit/>
          </a:bodyPr>
          <a:lstStyle/>
          <a:p>
            <a:r>
              <a:rPr lang="en-US" sz="2000" dirty="0"/>
              <a:t>Clear wiring diagram</a:t>
            </a:r>
          </a:p>
          <a:p>
            <a:r>
              <a:rPr lang="en-US" sz="2000" dirty="0"/>
              <a:t>Using standard wire clear to see</a:t>
            </a:r>
          </a:p>
        </p:txBody>
      </p:sp>
      <p:pic>
        <p:nvPicPr>
          <p:cNvPr id="5" name="Content Placeholder 4" descr="A circuit board with wires and wires&#10;&#10;AI-generated content may be incorrect.">
            <a:extLst>
              <a:ext uri="{FF2B5EF4-FFF2-40B4-BE49-F238E27FC236}">
                <a16:creationId xmlns:a16="http://schemas.microsoft.com/office/drawing/2014/main" id="{0F85D68D-494E-6C21-EC7C-EDF0A7463E3A}"/>
              </a:ext>
            </a:extLst>
          </p:cNvPr>
          <p:cNvPicPr>
            <a:picLocks noChangeAspect="1"/>
          </p:cNvPicPr>
          <p:nvPr/>
        </p:nvPicPr>
        <p:blipFill>
          <a:blip r:embed="rId2">
            <a:extLst>
              <a:ext uri="{28A0092B-C50C-407E-A947-70E740481C1C}">
                <a14:useLocalDpi xmlns:a14="http://schemas.microsoft.com/office/drawing/2010/main" val="0"/>
              </a:ext>
            </a:extLst>
          </a:blip>
          <a:srcRect l="1215" t="2" r="3965" b="-1"/>
          <a:stretch/>
        </p:blipFill>
        <p:spPr>
          <a:xfrm>
            <a:off x="4094696" y="1998368"/>
            <a:ext cx="7764216" cy="4564988"/>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7153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935E4-1A9E-C6DE-12AD-FEBAAF5D448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Flowchart for robot arm system</a:t>
            </a:r>
          </a:p>
        </p:txBody>
      </p:sp>
      <p:pic>
        <p:nvPicPr>
          <p:cNvPr id="9" name="Content Placeholder 8">
            <a:extLst>
              <a:ext uri="{FF2B5EF4-FFF2-40B4-BE49-F238E27FC236}">
                <a16:creationId xmlns:a16="http://schemas.microsoft.com/office/drawing/2014/main" id="{58AD256D-6E2E-E55A-95CF-66F6804F98D1}"/>
              </a:ext>
            </a:extLst>
          </p:cNvPr>
          <p:cNvPicPr>
            <a:picLocks noGrp="1" noChangeAspect="1"/>
          </p:cNvPicPr>
          <p:nvPr>
            <p:ph idx="1"/>
          </p:nvPr>
        </p:nvPicPr>
        <p:blipFill>
          <a:blip r:embed="rId2"/>
          <a:stretch>
            <a:fillRect/>
          </a:stretch>
        </p:blipFill>
        <p:spPr>
          <a:xfrm>
            <a:off x="5753066" y="190857"/>
            <a:ext cx="4196596" cy="6557183"/>
          </a:xfrm>
          <a:prstGeom prst="rect">
            <a:avLst/>
          </a:prstGeom>
        </p:spPr>
      </p:pic>
    </p:spTree>
    <p:extLst>
      <p:ext uri="{BB962C8B-B14F-4D97-AF65-F5344CB8AC3E}">
        <p14:creationId xmlns:p14="http://schemas.microsoft.com/office/powerpoint/2010/main" val="121585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DC5368-86B2-A883-AEE3-CFE58340916F}"/>
              </a:ext>
            </a:extLst>
          </p:cNvPr>
          <p:cNvSpPr>
            <a:spLocks noGrp="1"/>
          </p:cNvSpPr>
          <p:nvPr>
            <p:ph type="title"/>
          </p:nvPr>
        </p:nvSpPr>
        <p:spPr>
          <a:xfrm>
            <a:off x="793662" y="386930"/>
            <a:ext cx="10066122" cy="1298448"/>
          </a:xfrm>
        </p:spPr>
        <p:txBody>
          <a:bodyPr anchor="b">
            <a:normAutofit/>
          </a:bodyPr>
          <a:lstStyle/>
          <a:p>
            <a:r>
              <a:rPr lang="en-US" sz="4800" dirty="0"/>
              <a:t>Algorithm for Smooth moving</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FBE545EE-9F9A-FA11-96DB-AA541A200BF6}"/>
              </a:ext>
            </a:extLst>
          </p:cNvPr>
          <p:cNvSpPr>
            <a:spLocks noGrp="1"/>
          </p:cNvSpPr>
          <p:nvPr>
            <p:ph idx="1"/>
          </p:nvPr>
        </p:nvSpPr>
        <p:spPr>
          <a:xfrm>
            <a:off x="91805" y="2493155"/>
            <a:ext cx="4530898" cy="3639450"/>
          </a:xfrm>
        </p:spPr>
        <p:txBody>
          <a:bodyPr anchor="ctr">
            <a:normAutofit/>
          </a:bodyPr>
          <a:lstStyle/>
          <a:p>
            <a:r>
              <a:rPr lang="en-US" sz="2000" dirty="0"/>
              <a:t>Implemented the </a:t>
            </a:r>
            <a:r>
              <a:rPr lang="en-US" sz="2000" b="1" dirty="0"/>
              <a:t>smooth algorithm </a:t>
            </a:r>
            <a:r>
              <a:rPr lang="en-US" sz="2000" dirty="0"/>
              <a:t>instead of using servo driver board</a:t>
            </a:r>
          </a:p>
          <a:p>
            <a:r>
              <a:rPr lang="en-US" sz="2000" dirty="0"/>
              <a:t>Controlled with PMW with Arduino pin</a:t>
            </a:r>
          </a:p>
          <a:p>
            <a:endParaRPr lang="en-US" sz="2000" dirty="0"/>
          </a:p>
          <a:p>
            <a:endParaRPr lang="en-US" sz="2000" dirty="0"/>
          </a:p>
        </p:txBody>
      </p:sp>
      <p:pic>
        <p:nvPicPr>
          <p:cNvPr id="5" name="Content Placeholder 4">
            <a:extLst>
              <a:ext uri="{FF2B5EF4-FFF2-40B4-BE49-F238E27FC236}">
                <a16:creationId xmlns:a16="http://schemas.microsoft.com/office/drawing/2014/main" id="{960C843D-58E1-FF38-4484-7E8864AAF1B5}"/>
              </a:ext>
            </a:extLst>
          </p:cNvPr>
          <p:cNvPicPr>
            <a:picLocks noChangeAspect="1"/>
          </p:cNvPicPr>
          <p:nvPr/>
        </p:nvPicPr>
        <p:blipFill>
          <a:blip r:embed="rId2"/>
          <a:stretch>
            <a:fillRect/>
          </a:stretch>
        </p:blipFill>
        <p:spPr>
          <a:xfrm>
            <a:off x="4385467" y="2599508"/>
            <a:ext cx="6996230" cy="3533097"/>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9924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92268D-8817-CA74-D5AC-88B40B1F805E}"/>
              </a:ext>
            </a:extLst>
          </p:cNvPr>
          <p:cNvSpPr>
            <a:spLocks noGrp="1"/>
          </p:cNvSpPr>
          <p:nvPr>
            <p:ph type="title"/>
          </p:nvPr>
        </p:nvSpPr>
        <p:spPr>
          <a:xfrm>
            <a:off x="793662" y="386930"/>
            <a:ext cx="10066122" cy="1298448"/>
          </a:xfrm>
        </p:spPr>
        <p:txBody>
          <a:bodyPr anchor="b">
            <a:normAutofit/>
          </a:bodyPr>
          <a:lstStyle/>
          <a:p>
            <a:r>
              <a:rPr lang="en-US" sz="4800" dirty="0"/>
              <a:t>Sure to be detection &amp; timestamp</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5E54B30-D4D5-B8AE-AECF-6C48DD4633AA}"/>
              </a:ext>
            </a:extLst>
          </p:cNvPr>
          <p:cNvSpPr>
            <a:spLocks noGrp="1"/>
          </p:cNvSpPr>
          <p:nvPr>
            <p:ph idx="1"/>
          </p:nvPr>
        </p:nvSpPr>
        <p:spPr>
          <a:xfrm>
            <a:off x="271147" y="2308107"/>
            <a:ext cx="3894304" cy="3590275"/>
          </a:xfrm>
        </p:spPr>
        <p:txBody>
          <a:bodyPr anchor="ctr">
            <a:normAutofit/>
          </a:bodyPr>
          <a:lstStyle/>
          <a:p>
            <a:r>
              <a:rPr lang="en-US" sz="1600" dirty="0"/>
              <a:t>To be sure to detection, I used this method and calculation </a:t>
            </a:r>
          </a:p>
          <a:p>
            <a:r>
              <a:rPr lang="en-US" sz="1600" dirty="0"/>
              <a:t>To make sure </a:t>
            </a:r>
            <a:r>
              <a:rPr lang="en-US" sz="1600" b="1" dirty="0"/>
              <a:t>you don’t trigger the same action multiple times too fast</a:t>
            </a:r>
          </a:p>
          <a:p>
            <a:r>
              <a:rPr lang="en-US" sz="1600" dirty="0"/>
              <a:t>checks how long it's been since the </a:t>
            </a:r>
            <a:r>
              <a:rPr lang="en-US" sz="1600" b="1" dirty="0"/>
              <a:t>last action</a:t>
            </a:r>
            <a:r>
              <a:rPr lang="en-US" sz="1600" dirty="0"/>
              <a:t> happened</a:t>
            </a:r>
            <a:endParaRPr lang="en-US" sz="1600" b="1" dirty="0"/>
          </a:p>
          <a:p>
            <a:r>
              <a:rPr lang="en-US" sz="1600" dirty="0"/>
              <a:t>only continue if it's been </a:t>
            </a:r>
            <a:r>
              <a:rPr lang="en-US" sz="1600" b="1" dirty="0"/>
              <a:t>more than the debounce delay</a:t>
            </a:r>
            <a:r>
              <a:rPr lang="en-US" sz="1600" dirty="0"/>
              <a:t> (e.g., 200 </a:t>
            </a:r>
            <a:r>
              <a:rPr lang="en-US" sz="1600" dirty="0" err="1"/>
              <a:t>ms</a:t>
            </a:r>
            <a:r>
              <a:rPr lang="en-US" sz="1600" dirty="0"/>
              <a:t>).</a:t>
            </a:r>
            <a:endParaRPr lang="en-US" sz="1600" b="1" dirty="0"/>
          </a:p>
          <a:p>
            <a:r>
              <a:rPr lang="en-US" sz="1600" b="1" dirty="0"/>
              <a:t>update the timestamp</a:t>
            </a:r>
            <a:r>
              <a:rPr lang="en-US" sz="1600" dirty="0"/>
              <a:t> so the next action won't happen until the delay has passed.</a:t>
            </a:r>
          </a:p>
          <a:p>
            <a:endParaRPr lang="en-US" sz="2000" dirty="0"/>
          </a:p>
        </p:txBody>
      </p:sp>
      <p:pic>
        <p:nvPicPr>
          <p:cNvPr id="5" name="Picture 4">
            <a:extLst>
              <a:ext uri="{FF2B5EF4-FFF2-40B4-BE49-F238E27FC236}">
                <a16:creationId xmlns:a16="http://schemas.microsoft.com/office/drawing/2014/main" id="{5D40A2A2-82C3-7FF8-3D57-DECAC37E6935}"/>
              </a:ext>
            </a:extLst>
          </p:cNvPr>
          <p:cNvPicPr>
            <a:picLocks noChangeAspect="1"/>
          </p:cNvPicPr>
          <p:nvPr/>
        </p:nvPicPr>
        <p:blipFill>
          <a:blip r:embed="rId2"/>
          <a:srcRect r="6533"/>
          <a:stretch/>
        </p:blipFill>
        <p:spPr>
          <a:xfrm>
            <a:off x="4324788" y="2308107"/>
            <a:ext cx="7058574" cy="264316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169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7C8C6AF0-D787-3E14-1846-57E013F5708C}"/>
              </a:ext>
            </a:extLst>
          </p:cNvPr>
          <p:cNvSpPr>
            <a:spLocks noGrp="1"/>
          </p:cNvSpPr>
          <p:nvPr>
            <p:ph type="title"/>
          </p:nvPr>
        </p:nvSpPr>
        <p:spPr>
          <a:xfrm>
            <a:off x="1179226" y="864755"/>
            <a:ext cx="9944045" cy="1518222"/>
          </a:xfrm>
        </p:spPr>
        <p:txBody>
          <a:bodyPr anchor="b">
            <a:normAutofit/>
          </a:bodyPr>
          <a:lstStyle/>
          <a:p>
            <a:pPr algn="ctr"/>
            <a:r>
              <a:rPr lang="en-US" sz="3600" dirty="0">
                <a:solidFill>
                  <a:schemeClr val="tx2"/>
                </a:solidFill>
              </a:rPr>
              <a:t>Reflection for</a:t>
            </a:r>
            <a:br>
              <a:rPr lang="en-US" sz="3600" dirty="0">
                <a:solidFill>
                  <a:schemeClr val="tx2"/>
                </a:solidFill>
              </a:rPr>
            </a:br>
            <a:r>
              <a:rPr lang="en-US" sz="3600" b="1" dirty="0">
                <a:solidFill>
                  <a:schemeClr val="tx2"/>
                </a:solidFill>
                <a:latin typeface="Arial" panose="020B0604020202020204" pitchFamily="34" charset="0"/>
                <a:cs typeface="Arial" panose="020B0604020202020204" pitchFamily="34" charset="0"/>
              </a:rPr>
              <a:t>Developing of R</a:t>
            </a:r>
            <a:r>
              <a:rPr lang="en-US" sz="3600" b="1" dirty="0">
                <a:solidFill>
                  <a:schemeClr val="tx2"/>
                </a:solidFill>
                <a:effectLst/>
                <a:latin typeface="Arial" panose="020B0604020202020204" pitchFamily="34" charset="0"/>
                <a:cs typeface="Arial" panose="020B0604020202020204" pitchFamily="34" charset="0"/>
              </a:rPr>
              <a:t>obotic Arm and Testing</a:t>
            </a:r>
            <a:endParaRPr lang="en-US" sz="3600" dirty="0">
              <a:solidFill>
                <a:schemeClr val="tx2"/>
              </a:solidFill>
            </a:endParaRPr>
          </a:p>
        </p:txBody>
      </p:sp>
      <p:grpSp>
        <p:nvGrpSpPr>
          <p:cNvPr id="25" name="Group 24">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6" name="Freeform: Shape 25">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C59C6DA-17CA-F855-9781-431E4460CC52}"/>
              </a:ext>
            </a:extLst>
          </p:cNvPr>
          <p:cNvSpPr>
            <a:spLocks noGrp="1"/>
          </p:cNvSpPr>
          <p:nvPr>
            <p:ph idx="1"/>
          </p:nvPr>
        </p:nvSpPr>
        <p:spPr>
          <a:xfrm>
            <a:off x="1179226" y="2890979"/>
            <a:ext cx="9833548" cy="2693976"/>
          </a:xfrm>
        </p:spPr>
        <p:txBody>
          <a:bodyPr>
            <a:normAutofit/>
          </a:bodyPr>
          <a:lstStyle/>
          <a:p>
            <a:pPr marL="0" indent="0">
              <a:buNone/>
            </a:pPr>
            <a:r>
              <a:rPr lang="en-US" sz="1800" b="1" dirty="0">
                <a:solidFill>
                  <a:schemeClr val="tx2"/>
                </a:solidFill>
              </a:rPr>
              <a:t>1. Project Understanding &amp; Goals</a:t>
            </a:r>
          </a:p>
          <a:p>
            <a:r>
              <a:rPr lang="en-US" sz="1800" dirty="0">
                <a:solidFill>
                  <a:schemeClr val="tx2"/>
                </a:solidFill>
              </a:rPr>
              <a:t>The objective of this project was to design and develop a </a:t>
            </a:r>
            <a:r>
              <a:rPr lang="en-US" sz="1800" b="1" dirty="0">
                <a:solidFill>
                  <a:schemeClr val="tx2"/>
                </a:solidFill>
              </a:rPr>
              <a:t>robotic arm</a:t>
            </a:r>
            <a:r>
              <a:rPr lang="en-US" sz="1800" dirty="0">
                <a:solidFill>
                  <a:schemeClr val="tx2"/>
                </a:solidFill>
              </a:rPr>
              <a:t> capable of </a:t>
            </a:r>
            <a:r>
              <a:rPr lang="en-US" sz="1800" b="1" dirty="0">
                <a:solidFill>
                  <a:schemeClr val="tx2"/>
                </a:solidFill>
              </a:rPr>
              <a:t>picking up and placing objects at a desired location</a:t>
            </a:r>
            <a:r>
              <a:rPr lang="en-US" sz="1800" dirty="0">
                <a:solidFill>
                  <a:schemeClr val="tx2"/>
                </a:solidFill>
              </a:rPr>
              <a:t>, ensuring smooth operation, obstacle detection, and system feedback. The implementation involved </a:t>
            </a:r>
            <a:r>
              <a:rPr lang="en-US" sz="1800" b="1" dirty="0">
                <a:solidFill>
                  <a:schemeClr val="tx2"/>
                </a:solidFill>
              </a:rPr>
              <a:t>three Standard servo, two micro servo motors for movement, an ultrasonic sensor for obstacle detection, Led &amp; buzzer for feedback, switches for the home position, start position and emergency state, and an Arduino Uno for control</a:t>
            </a:r>
            <a:r>
              <a:rPr lang="en-US" sz="1800" dirty="0">
                <a:solidFill>
                  <a:schemeClr val="tx2"/>
                </a:solidFill>
              </a:rPr>
              <a:t>.</a:t>
            </a:r>
          </a:p>
          <a:p>
            <a:endParaRPr lang="en-US" sz="1800" dirty="0">
              <a:solidFill>
                <a:schemeClr val="tx2"/>
              </a:solidFill>
            </a:endParaRPr>
          </a:p>
        </p:txBody>
      </p:sp>
      <p:grpSp>
        <p:nvGrpSpPr>
          <p:cNvPr id="31" name="Group 30">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2" name="Freeform: Shape 31">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80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0031C0C7-01A3-69C1-5F5C-99A954171B4B}"/>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dirty="0">
                <a:solidFill>
                  <a:schemeClr val="tx1"/>
                </a:solidFill>
                <a:latin typeface="+mj-lt"/>
                <a:ea typeface="+mj-ea"/>
                <a:cs typeface="+mj-cs"/>
              </a:rPr>
              <a:t>Development Process &amp; Current Setup</a:t>
            </a:r>
          </a:p>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44" name="Arc 4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4890BD0-A1AC-A961-D736-2DA83CE46894}"/>
              </a:ext>
            </a:extLst>
          </p:cNvPr>
          <p:cNvSpPr>
            <a:spLocks noGrp="1"/>
          </p:cNvSpPr>
          <p:nvPr>
            <p:ph idx="1"/>
          </p:nvPr>
        </p:nvSpPr>
        <p:spPr>
          <a:xfrm>
            <a:off x="977096" y="1779326"/>
            <a:ext cx="10515600" cy="4351338"/>
          </a:xfrm>
        </p:spPr>
        <p:txBody>
          <a:bodyPr vert="horz" lIns="91440" tIns="45720" rIns="91440" bIns="45720" rtlCol="0">
            <a:normAutofit/>
          </a:bodyPr>
          <a:lstStyle/>
          <a:p>
            <a:r>
              <a:rPr lang="en-US" sz="1700" dirty="0"/>
              <a:t>The robotic arm was developed with full-functions, ensuring proper wiring and functionality. Key components include:</a:t>
            </a:r>
          </a:p>
          <a:p>
            <a:r>
              <a:rPr lang="en-US" sz="1700" b="1" dirty="0"/>
              <a:t>Servo Motors</a:t>
            </a:r>
            <a:r>
              <a:rPr lang="en-US" sz="1700" dirty="0"/>
              <a:t>: Control the arm's movement, ranging from 45° to 135° for smooth operation.</a:t>
            </a:r>
          </a:p>
          <a:p>
            <a:r>
              <a:rPr lang="en-US" sz="1700" b="1" dirty="0"/>
              <a:t>Ultrasonic Sensor</a:t>
            </a:r>
            <a:r>
              <a:rPr lang="en-US" sz="1700" dirty="0"/>
              <a:t>: Detects obstacles within 15 cm, triggering a warning LED and stopping motor power if needed.</a:t>
            </a:r>
          </a:p>
          <a:p>
            <a:r>
              <a:rPr lang="en-US" sz="1700" b="1" dirty="0"/>
              <a:t>Home Button</a:t>
            </a:r>
            <a:r>
              <a:rPr lang="en-US" sz="1700" dirty="0"/>
              <a:t>: Sets the arm’s home position for consistent movement.</a:t>
            </a:r>
          </a:p>
          <a:p>
            <a:r>
              <a:rPr lang="en-US" sz="1700" b="1" dirty="0"/>
              <a:t>Start Button</a:t>
            </a:r>
            <a:r>
              <a:rPr lang="en-US" sz="1700" dirty="0"/>
              <a:t>: Activates predefined movements in the arm.</a:t>
            </a:r>
          </a:p>
          <a:p>
            <a:r>
              <a:rPr lang="en-US" sz="1700" b="1" dirty="0"/>
              <a:t>IR Sensors</a:t>
            </a:r>
            <a:r>
              <a:rPr lang="en-US" sz="1700" dirty="0"/>
              <a:t>: Replace traditional buttons for improved automation and remote control.</a:t>
            </a:r>
          </a:p>
          <a:p>
            <a:r>
              <a:rPr lang="en-US" sz="1700" b="1" dirty="0"/>
              <a:t>Emergency Button</a:t>
            </a:r>
            <a:r>
              <a:rPr lang="en-US" sz="1700" dirty="0"/>
              <a:t>: Stops movement and activates the red LED and buzzer for immediate alerts.</a:t>
            </a:r>
          </a:p>
          <a:p>
            <a:r>
              <a:rPr lang="en-US" sz="1700" b="1" dirty="0"/>
              <a:t>Arduino Uno</a:t>
            </a:r>
            <a:r>
              <a:rPr lang="en-US" sz="1700" dirty="0"/>
              <a:t>: Central controller processing sensor data and controlling servos.</a:t>
            </a:r>
          </a:p>
          <a:p>
            <a:r>
              <a:rPr lang="en-US" sz="1700" b="1" dirty="0"/>
              <a:t>Pull-Up Resistor Button</a:t>
            </a:r>
            <a:r>
              <a:rPr lang="en-US" sz="1700" dirty="0"/>
              <a:t>: Currently used, with plans to upgrade to IR sensors.</a:t>
            </a:r>
          </a:p>
          <a:p>
            <a:r>
              <a:rPr lang="en-US" sz="1700" b="1" dirty="0"/>
              <a:t>3D Design</a:t>
            </a:r>
            <a:r>
              <a:rPr lang="en-US" sz="1700" dirty="0"/>
              <a:t>: The arm's structure was designed and tested in 3D, optimizing component placement for stability and functionality.</a:t>
            </a:r>
          </a:p>
        </p:txBody>
      </p:sp>
    </p:spTree>
    <p:extLst>
      <p:ext uri="{BB962C8B-B14F-4D97-AF65-F5344CB8AC3E}">
        <p14:creationId xmlns:p14="http://schemas.microsoft.com/office/powerpoint/2010/main" val="3905509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14251A3-9664-ECE2-8988-D761A3EECE1B}"/>
              </a:ext>
            </a:extLst>
          </p:cNvPr>
          <p:cNvSpPr>
            <a:spLocks noGrp="1"/>
          </p:cNvSpPr>
          <p:nvPr>
            <p:ph type="title"/>
          </p:nvPr>
        </p:nvSpPr>
        <p:spPr>
          <a:xfrm>
            <a:off x="838200" y="365125"/>
            <a:ext cx="10515600" cy="1325563"/>
          </a:xfrm>
        </p:spPr>
        <p:txBody>
          <a:bodyPr>
            <a:normAutofit/>
          </a:bodyPr>
          <a:lstStyle/>
          <a:p>
            <a:r>
              <a:rPr lang="en-US" b="1"/>
              <a:t>3. Key Challenges &amp; Solutions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53B1548B-2E17-E815-2369-34DBC49A3DAB}"/>
              </a:ext>
            </a:extLst>
          </p:cNvPr>
          <p:cNvSpPr>
            <a:spLocks noGrp="1"/>
          </p:cNvSpPr>
          <p:nvPr>
            <p:ph idx="1"/>
          </p:nvPr>
        </p:nvSpPr>
        <p:spPr>
          <a:xfrm>
            <a:off x="838200" y="1825625"/>
            <a:ext cx="10515600" cy="4351338"/>
          </a:xfrm>
        </p:spPr>
        <p:txBody>
          <a:bodyPr>
            <a:normAutofit/>
          </a:bodyPr>
          <a:lstStyle/>
          <a:p>
            <a:pPr marL="514350" indent="-514350">
              <a:buAutoNum type="arabicPeriod"/>
            </a:pPr>
            <a:r>
              <a:rPr lang="en-US" sz="2200" b="1"/>
              <a:t>Servo Power Supply</a:t>
            </a:r>
          </a:p>
          <a:p>
            <a:pPr marL="0" indent="0">
              <a:buNone/>
            </a:pPr>
            <a:r>
              <a:rPr lang="en-US" sz="2200" b="1"/>
              <a:t>Challenge</a:t>
            </a:r>
            <a:r>
              <a:rPr lang="en-US" sz="2200"/>
              <a:t>: Standard servos can draw up to 2A each, causing high power demand and risking overload.</a:t>
            </a:r>
          </a:p>
          <a:p>
            <a:pPr marL="0" indent="0">
              <a:buNone/>
            </a:pPr>
            <a:r>
              <a:rPr lang="en-US" sz="2200" b="1"/>
              <a:t>Solution</a:t>
            </a:r>
            <a:r>
              <a:rPr lang="en-US" sz="2200"/>
              <a:t>: I used two LM2596 voltage regulators to split the current load and provide stable 5V power to different groups of servos, ensuring reliable performance.</a:t>
            </a:r>
          </a:p>
          <a:p>
            <a:pPr marL="0" indent="0">
              <a:buNone/>
            </a:pPr>
            <a:endParaRPr lang="en-US" sz="2200"/>
          </a:p>
          <a:p>
            <a:pPr marL="0" indent="0">
              <a:buNone/>
            </a:pPr>
            <a:r>
              <a:rPr lang="en-US" sz="2200"/>
              <a:t>2. </a:t>
            </a:r>
            <a:r>
              <a:rPr lang="en-US" sz="2200" b="1"/>
              <a:t>Button Debouncing and Input Accuracy</a:t>
            </a:r>
          </a:p>
          <a:p>
            <a:pPr marL="0" indent="0">
              <a:buNone/>
            </a:pPr>
            <a:r>
              <a:rPr lang="en-US" sz="2200" b="1"/>
              <a:t>Challenge</a:t>
            </a:r>
            <a:r>
              <a:rPr lang="en-US" sz="2200"/>
              <a:t>: Unreliable button presses led to unexpected behavior in the system.</a:t>
            </a:r>
          </a:p>
          <a:p>
            <a:pPr marL="0" indent="0">
              <a:buNone/>
            </a:pPr>
            <a:r>
              <a:rPr lang="en-US" sz="2200" b="1"/>
              <a:t>Solution</a:t>
            </a:r>
            <a:r>
              <a:rPr lang="en-US" sz="2200"/>
              <a:t>: I combined external and internal pull-up resistors to stabilize input signals, eliminating false triggers and ensuring consistent button responses.</a:t>
            </a:r>
          </a:p>
        </p:txBody>
      </p:sp>
    </p:spTree>
    <p:extLst>
      <p:ext uri="{BB962C8B-B14F-4D97-AF65-F5344CB8AC3E}">
        <p14:creationId xmlns:p14="http://schemas.microsoft.com/office/powerpoint/2010/main" val="2097544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B7B190D-1A02-832D-48DC-3CB9F0959044}"/>
              </a:ext>
            </a:extLst>
          </p:cNvPr>
          <p:cNvSpPr>
            <a:spLocks noGrp="1"/>
          </p:cNvSpPr>
          <p:nvPr>
            <p:ph idx="1"/>
          </p:nvPr>
        </p:nvSpPr>
        <p:spPr>
          <a:xfrm>
            <a:off x="838200" y="477998"/>
            <a:ext cx="10515600" cy="5698965"/>
          </a:xfrm>
        </p:spPr>
        <p:txBody>
          <a:bodyPr>
            <a:normAutofit/>
          </a:bodyPr>
          <a:lstStyle/>
          <a:p>
            <a:pPr marL="0" indent="0">
              <a:buNone/>
            </a:pPr>
            <a:r>
              <a:rPr lang="en-US" sz="2300" b="1" dirty="0"/>
              <a:t>3. IR Sensor Detection Reliability</a:t>
            </a:r>
          </a:p>
          <a:p>
            <a:pPr marL="0" indent="0">
              <a:buNone/>
            </a:pPr>
            <a:r>
              <a:rPr lang="en-US" sz="2300" b="1" dirty="0"/>
              <a:t>Challenge: </a:t>
            </a:r>
            <a:r>
              <a:rPr lang="en-US" sz="2300" dirty="0"/>
              <a:t>IR sensors triggered multiple times in rapid succession, causing false or repeated activations.</a:t>
            </a:r>
          </a:p>
          <a:p>
            <a:pPr marL="0" indent="0">
              <a:buNone/>
            </a:pPr>
            <a:r>
              <a:rPr lang="en-US" sz="2300" b="1" dirty="0"/>
              <a:t>Solution</a:t>
            </a:r>
            <a:r>
              <a:rPr lang="en-US" sz="2300" dirty="0"/>
              <a:t>: A debounce logic was added using a timing check (e.g., 200ms delay), allowing only one detection per interval. This improved accuracy and system stability.</a:t>
            </a:r>
          </a:p>
          <a:p>
            <a:pPr marL="0" indent="0">
              <a:buNone/>
            </a:pPr>
            <a:r>
              <a:rPr lang="en-US" sz="2300" b="1" dirty="0"/>
              <a:t>4. Servo Coordination for Object Handling</a:t>
            </a:r>
          </a:p>
          <a:p>
            <a:pPr marL="0" indent="0">
              <a:buNone/>
            </a:pPr>
            <a:r>
              <a:rPr lang="en-US" sz="2300" b="1" dirty="0"/>
              <a:t>Challenge: </a:t>
            </a:r>
            <a:r>
              <a:rPr lang="en-US" sz="2300" dirty="0"/>
              <a:t>Coordinating five servos to perform complex tasks like picking, moving, and dropping objects was difficult.</a:t>
            </a:r>
          </a:p>
          <a:p>
            <a:pPr marL="0" indent="0">
              <a:buNone/>
            </a:pPr>
            <a:r>
              <a:rPr lang="en-US" sz="2300" b="1" dirty="0"/>
              <a:t>Solution</a:t>
            </a:r>
            <a:r>
              <a:rPr lang="en-US" sz="2300" dirty="0"/>
              <a:t>: I predefined servo angles for each stage of the action. </a:t>
            </a:r>
          </a:p>
          <a:p>
            <a:pPr marL="0" indent="0">
              <a:buNone/>
            </a:pPr>
            <a:r>
              <a:rPr lang="en-US" sz="2300" dirty="0"/>
              <a:t>Example positions: Ready to Pick Up: base 45°, arm 90°, elbow 120°, wrist 90°, grip 160°.</a:t>
            </a:r>
          </a:p>
          <a:p>
            <a:pPr marL="0" indent="0">
              <a:buNone/>
            </a:pPr>
            <a:r>
              <a:rPr lang="en-US" sz="2300" dirty="0"/>
              <a:t>Ready to Drop: base 130°, arm 100°, elbow 170°, wrist 95°, grip 60°These presets simplified motion control and improved repeatability.</a:t>
            </a:r>
          </a:p>
        </p:txBody>
      </p:sp>
    </p:spTree>
    <p:extLst>
      <p:ext uri="{BB962C8B-B14F-4D97-AF65-F5344CB8AC3E}">
        <p14:creationId xmlns:p14="http://schemas.microsoft.com/office/powerpoint/2010/main" val="2980539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92B8078-52DF-058F-67C0-AA935DB81AF6}"/>
              </a:ext>
            </a:extLst>
          </p:cNvPr>
          <p:cNvSpPr>
            <a:spLocks noGrp="1"/>
          </p:cNvSpPr>
          <p:nvPr>
            <p:ph idx="1"/>
          </p:nvPr>
        </p:nvSpPr>
        <p:spPr>
          <a:xfrm>
            <a:off x="838200" y="477998"/>
            <a:ext cx="10515600" cy="5698965"/>
          </a:xfrm>
        </p:spPr>
        <p:txBody>
          <a:bodyPr>
            <a:noAutofit/>
          </a:bodyPr>
          <a:lstStyle/>
          <a:p>
            <a:pPr marL="0" indent="0">
              <a:buNone/>
            </a:pPr>
            <a:r>
              <a:rPr lang="en-US" sz="2100" b="1" dirty="0"/>
              <a:t>5. Emergency Response Mechanism</a:t>
            </a:r>
          </a:p>
          <a:p>
            <a:pPr marL="0" indent="0">
              <a:buNone/>
            </a:pPr>
            <a:r>
              <a:rPr lang="en-US" sz="2100" b="1" dirty="0"/>
              <a:t>Challenge</a:t>
            </a:r>
            <a:r>
              <a:rPr lang="en-US" sz="2100" dirty="0"/>
              <a:t>: The system needed to stop instantly in emergencies to prevent damage.</a:t>
            </a:r>
          </a:p>
          <a:p>
            <a:pPr marL="0" indent="0">
              <a:buNone/>
            </a:pPr>
            <a:r>
              <a:rPr lang="en-US" sz="2100" b="1" dirty="0"/>
              <a:t>Solution</a:t>
            </a:r>
            <a:r>
              <a:rPr lang="en-US" sz="2100" dirty="0"/>
              <a:t>: An emergency stop button was added. Pressing it halts all movement, lights a red LED, and activates a buzzer to signal alert.</a:t>
            </a:r>
          </a:p>
          <a:p>
            <a:pPr marL="0" indent="0">
              <a:buNone/>
            </a:pPr>
            <a:endParaRPr lang="en-US" sz="2100" dirty="0"/>
          </a:p>
          <a:p>
            <a:pPr marL="0" indent="0">
              <a:buNone/>
            </a:pPr>
            <a:r>
              <a:rPr lang="en-US" sz="2100" b="1" dirty="0"/>
              <a:t>6. Physical Design and Stability</a:t>
            </a:r>
          </a:p>
          <a:p>
            <a:pPr marL="0" indent="0">
              <a:buNone/>
            </a:pPr>
            <a:r>
              <a:rPr lang="en-US" sz="2100" b="1" dirty="0"/>
              <a:t>Challenge: </a:t>
            </a:r>
            <a:r>
              <a:rPr lang="en-US" sz="2100" dirty="0"/>
              <a:t>Movement caused instability and vibration, especially with larger servos.</a:t>
            </a:r>
          </a:p>
          <a:p>
            <a:pPr marL="0" indent="0">
              <a:buNone/>
            </a:pPr>
            <a:r>
              <a:rPr lang="en-US" sz="2100" b="1" dirty="0"/>
              <a:t>Solution: </a:t>
            </a:r>
            <a:r>
              <a:rPr lang="en-US" sz="2100" dirty="0"/>
              <a:t>I designed a 3D-printed frame with balanced weight distribution to maintain structural stability and smooth operation.</a:t>
            </a:r>
          </a:p>
          <a:p>
            <a:pPr marL="0" indent="0">
              <a:buNone/>
            </a:pPr>
            <a:endParaRPr lang="en-US" sz="2100" dirty="0"/>
          </a:p>
          <a:p>
            <a:pPr marL="0" indent="0">
              <a:buNone/>
            </a:pPr>
            <a:r>
              <a:rPr lang="en-US" sz="2100" b="1" dirty="0"/>
              <a:t>7. Smooth Servo Movement</a:t>
            </a:r>
          </a:p>
          <a:p>
            <a:pPr marL="0" indent="0">
              <a:buNone/>
            </a:pPr>
            <a:r>
              <a:rPr lang="en-US" sz="2100" b="1" dirty="0"/>
              <a:t>Challenge</a:t>
            </a:r>
            <a:r>
              <a:rPr lang="en-US" sz="2100" dirty="0"/>
              <a:t>: Jittery or abrupt servo transitions could affect precision and stress the hardware.</a:t>
            </a:r>
          </a:p>
          <a:p>
            <a:pPr marL="0" indent="0">
              <a:buNone/>
            </a:pPr>
            <a:r>
              <a:rPr lang="en-US" sz="2100" b="1" dirty="0"/>
              <a:t>Solution</a:t>
            </a:r>
            <a:r>
              <a:rPr lang="en-US" sz="2100" dirty="0"/>
              <a:t>: I used gradual stepping in the code to move servos smoothly from one position to another, improving control and extending servo life.</a:t>
            </a:r>
          </a:p>
        </p:txBody>
      </p:sp>
    </p:spTree>
    <p:extLst>
      <p:ext uri="{BB962C8B-B14F-4D97-AF65-F5344CB8AC3E}">
        <p14:creationId xmlns:p14="http://schemas.microsoft.com/office/powerpoint/2010/main" val="250786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4" name="Rectangle 23">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9A63D8-7474-A166-BDAA-27D9F8E0CEF1}"/>
              </a:ext>
            </a:extLst>
          </p:cNvPr>
          <p:cNvSpPr>
            <a:spLocks noGrp="1"/>
          </p:cNvSpPr>
          <p:nvPr>
            <p:ph type="title"/>
          </p:nvPr>
        </p:nvSpPr>
        <p:spPr>
          <a:xfrm>
            <a:off x="1347313" y="248083"/>
            <a:ext cx="9849751" cy="1349671"/>
          </a:xfrm>
        </p:spPr>
        <p:txBody>
          <a:bodyPr anchor="b">
            <a:normAutofit/>
          </a:bodyPr>
          <a:lstStyle/>
          <a:p>
            <a:r>
              <a:rPr lang="en-US" sz="4200" b="1" dirty="0"/>
              <a:t>4. Learnings &amp; Improvements</a:t>
            </a:r>
            <a:br>
              <a:rPr lang="en-US" sz="4200" b="1" dirty="0"/>
            </a:br>
            <a:endParaRPr lang="en-US" sz="4200" dirty="0"/>
          </a:p>
        </p:txBody>
      </p:sp>
      <p:sp>
        <p:nvSpPr>
          <p:cNvPr id="3" name="Content Placeholder 2">
            <a:extLst>
              <a:ext uri="{FF2B5EF4-FFF2-40B4-BE49-F238E27FC236}">
                <a16:creationId xmlns:a16="http://schemas.microsoft.com/office/drawing/2014/main" id="{6F75DCFD-3393-CB6D-990D-E436DB0E82C8}"/>
              </a:ext>
            </a:extLst>
          </p:cNvPr>
          <p:cNvSpPr>
            <a:spLocks noGrp="1"/>
          </p:cNvSpPr>
          <p:nvPr>
            <p:ph idx="1"/>
          </p:nvPr>
        </p:nvSpPr>
        <p:spPr>
          <a:xfrm>
            <a:off x="1289304" y="1215342"/>
            <a:ext cx="9849751" cy="4719739"/>
          </a:xfrm>
        </p:spPr>
        <p:txBody>
          <a:bodyPr anchor="ctr">
            <a:normAutofit/>
          </a:bodyPr>
          <a:lstStyle/>
          <a:p>
            <a:pPr>
              <a:buFont typeface="Arial" panose="020B0604020202020204" pitchFamily="34" charset="0"/>
              <a:buChar char="•"/>
            </a:pPr>
            <a:r>
              <a:rPr lang="en-US" sz="2000" dirty="0"/>
              <a:t>Throughout this project, I gained valuable experience in both hardware and software integration. I learned how to manage power distribution for multiple servo motors, handle input noise using proper debouncing techniques, and improve sensor reliability through logic and timing control. Coordinating complex servo movements taught me the importance of planning, testing, and using predefined positions for repeatability. I also realized the significance of physical design in ensuring stability and reducing vibration during movement. Most importantly, I understood how emergency handling and safety mechanisms play a crucial role in real-world robotic systems.</a:t>
            </a:r>
          </a:p>
          <a:p>
            <a:pPr>
              <a:buFont typeface="Arial" panose="020B0604020202020204" pitchFamily="34" charset="0"/>
              <a:buChar char="•"/>
            </a:pPr>
            <a:endParaRPr lang="en-US" sz="2000" dirty="0"/>
          </a:p>
          <a:p>
            <a:pPr>
              <a:buFont typeface="Arial" panose="020B0604020202020204" pitchFamily="34" charset="0"/>
              <a:buChar char="•"/>
            </a:pPr>
            <a:r>
              <a:rPr lang="en-US" sz="2000" b="1" dirty="0"/>
              <a:t>Need for Automation:</a:t>
            </a:r>
            <a:r>
              <a:rPr lang="en-US" sz="2000" dirty="0"/>
              <a:t> The current </a:t>
            </a:r>
            <a:r>
              <a:rPr lang="en-US" sz="2000" b="1" dirty="0"/>
              <a:t>button-based activation</a:t>
            </a:r>
            <a:r>
              <a:rPr lang="en-US" sz="2000" dirty="0"/>
              <a:t> worked, but an IR sensor upgrade would allow for </a:t>
            </a:r>
            <a:r>
              <a:rPr lang="en-US" sz="2000" b="1" dirty="0"/>
              <a:t>better automation and responsiveness</a:t>
            </a:r>
            <a:r>
              <a:rPr lang="en-US" sz="2000" dirty="0"/>
              <a:t>.</a:t>
            </a:r>
          </a:p>
          <a:p>
            <a:endParaRPr lang="en-US" sz="2000" dirty="0"/>
          </a:p>
        </p:txBody>
      </p:sp>
    </p:spTree>
    <p:extLst>
      <p:ext uri="{BB962C8B-B14F-4D97-AF65-F5344CB8AC3E}">
        <p14:creationId xmlns:p14="http://schemas.microsoft.com/office/powerpoint/2010/main" val="2313725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4" name="Rectangle 23">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D6200-2696-8103-987B-56F8B8CAB1C1}"/>
              </a:ext>
            </a:extLst>
          </p:cNvPr>
          <p:cNvSpPr>
            <a:spLocks noGrp="1"/>
          </p:cNvSpPr>
          <p:nvPr>
            <p:ph type="title"/>
          </p:nvPr>
        </p:nvSpPr>
        <p:spPr>
          <a:xfrm>
            <a:off x="853120" y="304889"/>
            <a:ext cx="9849751" cy="1349671"/>
          </a:xfrm>
        </p:spPr>
        <p:txBody>
          <a:bodyPr anchor="b">
            <a:normAutofit/>
          </a:bodyPr>
          <a:lstStyle/>
          <a:p>
            <a:r>
              <a:rPr lang="en-US" sz="4200" dirty="0"/>
              <a:t>5. </a:t>
            </a:r>
            <a:r>
              <a:rPr lang="en-US" sz="4200" b="1" dirty="0"/>
              <a:t>Future Enhancements</a:t>
            </a:r>
            <a:br>
              <a:rPr lang="en-US" sz="4200" b="1" dirty="0"/>
            </a:br>
            <a:endParaRPr lang="en-US" sz="4200" dirty="0"/>
          </a:p>
        </p:txBody>
      </p:sp>
      <p:sp>
        <p:nvSpPr>
          <p:cNvPr id="5" name="Rectangle 2">
            <a:extLst>
              <a:ext uri="{FF2B5EF4-FFF2-40B4-BE49-F238E27FC236}">
                <a16:creationId xmlns:a16="http://schemas.microsoft.com/office/drawing/2014/main" id="{B374BBA5-A765-36B8-ECE5-8692E8740A77}"/>
              </a:ext>
            </a:extLst>
          </p:cNvPr>
          <p:cNvSpPr>
            <a:spLocks noGrp="1" noChangeArrowheads="1"/>
          </p:cNvSpPr>
          <p:nvPr>
            <p:ph idx="1"/>
          </p:nvPr>
        </p:nvSpPr>
        <p:spPr bwMode="auto">
          <a:xfrm>
            <a:off x="589424" y="931926"/>
            <a:ext cx="11101833" cy="529511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Wireless Control &amp; Automation</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Implement Bluetooth or Wi-Fi connectivity for remote operation and real-time monitoring.</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Advanced Object Detection</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Upgrade from an ultrasonic sensor to a camera-based system with AI for better accuracy in object recognition.</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Improved IR Sensor Logic</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Optimize detection algorithms to differentiate between objects more accurately and minimize false triggers.</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More Durable 3D-Printed Design</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Use stronger, lightweight materials like carbon fiber-reinforced filament to improve durability and load capacity.</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71194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469BE4-87CA-25E4-5D68-7061234FD67F}"/>
              </a:ext>
            </a:extLst>
          </p:cNvPr>
          <p:cNvSpPr>
            <a:spLocks noGrp="1"/>
          </p:cNvSpPr>
          <p:nvPr>
            <p:ph idx="1"/>
          </p:nvPr>
        </p:nvSpPr>
        <p:spPr>
          <a:xfrm>
            <a:off x="675846" y="1106747"/>
            <a:ext cx="10936626" cy="5004685"/>
          </a:xfrm>
        </p:spPr>
        <p:txBody>
          <a:bodyPr anchor="ctr">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Better Emergency Handling</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Add a software-controlled safety mechanism that gradually stops the servos instead of an abrupt halt to prevent mechanical stress.</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Adaptive Learning &amp; AI Integration</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Implement machine learning algorithms to adapt movements based on previous interactions for better efficiency and precision.</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Humanoid Robot Development</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Improve articulation and control to integrate the robotic arm into a humanoid robot, enabling tasks like object manipulation and interaction with humans.</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Industrial Robotics Applications</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effectLst/>
                <a:latin typeface="Arial" panose="020B0604020202020204" pitchFamily="34" charset="0"/>
              </a:rPr>
              <a:t>Enhance precision, load capacity, and automation features to make the arm suitable for industrial tasks such as assembly line operations, pick-and-place automation, and quality control.</a:t>
            </a:r>
          </a:p>
          <a:p>
            <a:endParaRPr lang="en-US" sz="1800" dirty="0"/>
          </a:p>
        </p:txBody>
      </p:sp>
    </p:spTree>
    <p:extLst>
      <p:ext uri="{BB962C8B-B14F-4D97-AF65-F5344CB8AC3E}">
        <p14:creationId xmlns:p14="http://schemas.microsoft.com/office/powerpoint/2010/main" val="3014212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6625</TotalTime>
  <Words>1460</Words>
  <Application>Microsoft Office PowerPoint</Application>
  <PresentationFormat>Widescreen</PresentationFormat>
  <Paragraphs>119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Comic Sans MS</vt:lpstr>
      <vt:lpstr>Noto Serif</vt:lpstr>
      <vt:lpstr>Office Theme</vt:lpstr>
      <vt:lpstr>CW 1  Electronics Practice For  Robotic Application</vt:lpstr>
      <vt:lpstr>Introduction</vt:lpstr>
      <vt:lpstr>Getting same fully Functional Design</vt:lpstr>
      <vt:lpstr>3D design</vt:lpstr>
      <vt:lpstr>3D printed bearing</vt:lpstr>
      <vt:lpstr>Pin Connection</vt:lpstr>
      <vt:lpstr>Why used LM2596</vt:lpstr>
      <vt:lpstr>Circuit board for control box</vt:lpstr>
      <vt:lpstr>Clear design and Fully Functional</vt:lpstr>
      <vt:lpstr>Wiring diagram and simulation</vt:lpstr>
      <vt:lpstr>Flowchart for robot arm system</vt:lpstr>
      <vt:lpstr>Algorithm for Smooth moving</vt:lpstr>
      <vt:lpstr>Sure to be detection &amp; timestamp</vt:lpstr>
      <vt:lpstr>Reflection for Developing of Robotic Arm and Testing</vt:lpstr>
      <vt:lpstr>PowerPoint Presentation</vt:lpstr>
      <vt:lpstr>3. Key Challenges &amp; Solutions</vt:lpstr>
      <vt:lpstr>PowerPoint Presentation</vt:lpstr>
      <vt:lpstr>PowerPoint Presentation</vt:lpstr>
      <vt:lpstr>4. Learnings &amp; Improvements </vt:lpstr>
      <vt:lpstr>5. Future Enhancements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Zaw Hlaing Htet</dc:creator>
  <cp:lastModifiedBy>Zaw Hlaing Htet</cp:lastModifiedBy>
  <cp:revision>40</cp:revision>
  <dcterms:created xsi:type="dcterms:W3CDTF">2025-02-28T08:13:50Z</dcterms:created>
  <dcterms:modified xsi:type="dcterms:W3CDTF">2025-04-04T14:43:39Z</dcterms:modified>
</cp:coreProperties>
</file>